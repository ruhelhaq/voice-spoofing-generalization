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73FEFF"/>
    <a:srgbClr val="FF9300"/>
    <a:srgbClr val="D5FC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05CF-D8E1-C3F3-C518-5985E1845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0FB3BA-723B-AF78-2786-00E393A72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AE103-DF24-BE65-5040-593F2EBDA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ECDA-2431-7D4F-A5C1-B20F7B030819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F7241-910C-969C-CB64-E45B7191B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A55BC-AD59-34CC-8BB4-32710EFA7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2871B-842D-E14F-B561-FC39A7911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47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649A-1A3F-7EB6-7073-57D03B04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66F87-F352-2CA7-E47F-64D2D9B2D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C7D66-522D-880B-4D81-84BD8526C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ECDA-2431-7D4F-A5C1-B20F7B030819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C0FAA-A5D5-7B04-8AA2-FCEED3FA3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1830B-CCF9-8752-0FE5-9D57881E1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2871B-842D-E14F-B561-FC39A7911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594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17BFD-783C-3D34-07F3-B8C5DB80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F7CD6-8CA1-F103-117A-AB103EC75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50C8D-196B-B964-34F0-8D0E82B8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ECDA-2431-7D4F-A5C1-B20F7B030819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F711B-A6CA-B98B-8338-AD961E2D5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12528-525E-AEAA-80BA-FC13161A9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2871B-842D-E14F-B561-FC39A7911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404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CC7A6-276C-4262-3E2F-5C6C26515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C77DB-D441-0199-B23C-54D421D8B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C3ECE-872F-9691-E703-402CA35C9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2BEE1-62FD-39E6-9A2B-FA762C164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ECDA-2431-7D4F-A5C1-B20F7B030819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3DA0F-A24C-2FA5-86D0-9BA6697D8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F747E-7060-1D0F-AF31-84BD46D5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2871B-842D-E14F-B561-FC39A7911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434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7897E-5D95-2CAF-B935-129EA7BBA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348F-BFBA-DA97-7E68-9F2CC35BA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50B5B0-252B-0C1A-82BF-CFF1475CB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370EB5-BB5D-7496-8185-D0B463336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FAD9CA-06D6-85F0-DD19-9550FC3F90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EAB25F-16A3-C16E-383F-E54C07A23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ECDA-2431-7D4F-A5C1-B20F7B030819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5E9BA3-8625-7167-40BB-4E012DDF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428306-4C4A-4F28-7C2A-D1C3E7BC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2871B-842D-E14F-B561-FC39A7911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1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72F08-1C57-B6A7-4970-D4EF7304A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9F1FD4-E655-DED1-7ADB-2726DEAE0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ECDA-2431-7D4F-A5C1-B20F7B030819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2D798-C4AF-068D-7E5F-15F814D45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8C1DE-A548-628C-8684-B5F711EEA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2871B-842D-E14F-B561-FC39A7911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10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C30FF1-C6CA-A5B6-CFEF-528DE708E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ECDA-2431-7D4F-A5C1-B20F7B030819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8440D-1634-5DD1-71B0-6885D3D8E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88EA7-84A5-2AC8-B283-FB249A818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2871B-842D-E14F-B561-FC39A7911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841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E9005-4392-81D2-9213-FD2F0614C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EAE2C-438A-498F-3649-8EAA5409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017996-D46D-68CD-6CD4-E33571E3B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A209E-0429-61B8-ECC9-6BF5CF7D3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ECDA-2431-7D4F-A5C1-B20F7B030819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F009C-0E51-2EA2-9841-3934BB79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68010-A796-164E-7A89-76261AFB6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2871B-842D-E14F-B561-FC39A7911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857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C27B0-0187-05BF-81AE-FBBFC5EF7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8356A-ACD8-DF3F-47E9-7961E33FD5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FAD2E9-A02C-8DD2-F41F-E3376C0FF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6DE86-12B0-0976-4A1D-E8802680F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ECDA-2431-7D4F-A5C1-B20F7B030819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F6F86-9CA9-29EB-B068-5C07E564A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B1E1E-6ED6-730C-BB3E-6F478C788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2871B-842D-E14F-B561-FC39A7911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945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F7F8D-70BD-F524-CD68-174BDA064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A4243D-6012-26C8-7A84-D38547D27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9159A-6301-9043-7070-B02484A84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ECDA-2431-7D4F-A5C1-B20F7B030819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8B826-E47B-92AD-E49F-1BE76390C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7B601-2EE0-65DE-2304-217043E86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2871B-842D-E14F-B561-FC39A7911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4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6FAED1-D8A5-742E-28F2-CDB048F6A7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F89D1-4B57-1AAF-0976-6C126B016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C84AC-502A-84A6-C644-6A9C7A4E5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ECDA-2431-7D4F-A5C1-B20F7B030819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FE4BB-290F-D316-23BD-EB5583A8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C3C55-FD30-521E-0C82-30AD7385B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2871B-842D-E14F-B561-FC39A7911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52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D3BF47-0467-9A6D-E4FF-372D24C54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062FF-308E-3DBB-EC6F-3C65E3A29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B3880-9C4A-D9BA-56C7-B5BE7F9F5D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C9ECDA-2431-7D4F-A5C1-B20F7B030819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DA586-3045-9F8E-D00A-6E2FCFA7A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29198-F73F-4D36-71E8-1F7DA21C3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62871B-842D-E14F-B561-FC39A7911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23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media" Target="../media/media2.wav"/><Relationship Id="rId7" Type="http://schemas.microsoft.com/office/2007/relationships/hdphoto" Target="../media/hdphoto1.wdp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2.wav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DD4DE-8FC7-7B2C-6C87-E6BCD62AF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3243" y="2435609"/>
            <a:ext cx="10020296" cy="889795"/>
          </a:xfrm>
        </p:spPr>
        <p:txBody>
          <a:bodyPr>
            <a:normAutofit fontScale="92500" lnSpcReduction="20000"/>
          </a:bodyPr>
          <a:lstStyle/>
          <a:p>
            <a:r>
              <a:rPr lang="en-US" sz="3200" b="1" i="0" u="none" strike="noStrike" dirty="0">
                <a:ln w="0"/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reflection blurRad="19369" stA="26235" endPos="28999" dir="5400000" sy="-90000" algn="bl" rotWithShape="0"/>
                </a:effectLst>
                <a:latin typeface="Andale Mono" panose="020B0509000000000004" pitchFamily="49" charset="0"/>
              </a:rPr>
              <a:t>ASVspoof </a:t>
            </a:r>
            <a:r>
              <a:rPr lang="en-US" sz="3900" b="1" i="0" u="none" strike="noStrike" dirty="0">
                <a:ln w="0"/>
                <a:solidFill>
                  <a:srgbClr val="FF0000"/>
                </a:solidFill>
                <a:effectLst>
                  <a:reflection blurRad="19369" stA="26235" endPos="28999" dir="5400000" sy="-90000" algn="bl" rotWithShape="0"/>
                </a:effectLst>
                <a:latin typeface="Andale Mono" panose="020B0509000000000004" pitchFamily="49" charset="0"/>
              </a:rPr>
              <a:t>→</a:t>
            </a:r>
            <a:r>
              <a:rPr lang="en-US" sz="3200" b="1" i="0" u="none" strike="noStrike" dirty="0">
                <a:ln w="0"/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reflection blurRad="19369" stA="26235" endPos="28999" dir="5400000" sy="-90000" algn="bl" rotWithShape="0"/>
                </a:effectLst>
                <a:latin typeface="Andale Mono" panose="020B0509000000000004" pitchFamily="49" charset="0"/>
              </a:rPr>
              <a:t> Real-World Generalization</a:t>
            </a:r>
            <a:br>
              <a:rPr lang="en-US" sz="3200" i="0" u="none" strike="noStrike" dirty="0">
                <a:ln w="0"/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reflection blurRad="19369" stA="26235" endPos="28999" dir="5400000" sy="-90000" algn="bl" rotWithShape="0"/>
                </a:effectLst>
              </a:rPr>
            </a:br>
            <a:endParaRPr lang="en-US" sz="3200" dirty="0">
              <a:ln w="0"/>
              <a:solidFill>
                <a:schemeClr val="accent4">
                  <a:lumMod val="20000"/>
                  <a:lumOff val="80000"/>
                </a:schemeClr>
              </a:solidFill>
              <a:effectLst>
                <a:reflection blurRad="19369" stA="26235" endPos="28999" dir="5400000" sy="-90000" algn="bl" rotWithShape="0"/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FE3514-D92D-B642-AFAE-AFEB1692BFEB}"/>
              </a:ext>
            </a:extLst>
          </p:cNvPr>
          <p:cNvSpPr/>
          <p:nvPr/>
        </p:nvSpPr>
        <p:spPr>
          <a:xfrm>
            <a:off x="1618594" y="1116039"/>
            <a:ext cx="10329594" cy="92333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u="none" strike="noStrike" cap="none" spc="0" dirty="0">
                <a:ln w="0"/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reflection blurRad="19369" stA="26235" endPos="28999" dir="5400000" sy="-90000" algn="bl" rotWithShape="0"/>
                </a:effectLst>
                <a:latin typeface="Andale Mono" panose="020B0509000000000004" pitchFamily="49" charset="0"/>
                <a:cs typeface="Courier New" panose="02070309020205020404" pitchFamily="49" charset="0"/>
              </a:rPr>
              <a:t>Deepfake</a:t>
            </a:r>
            <a:r>
              <a:rPr lang="en-US" sz="5400" u="none" strike="noStrike" cap="none" spc="0" dirty="0">
                <a:ln w="0"/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reflection blurRad="19369" stA="26235" endPos="28999" dir="5400000" sy="-90000" algn="bl" rotWithShape="0"/>
                </a:effectLst>
                <a:latin typeface="Andale Mono" panose="020B0509000000000004" pitchFamily="49" charset="0"/>
              </a:rPr>
              <a:t> Voice Detection</a:t>
            </a:r>
            <a:endParaRPr lang="en-US" sz="5400" cap="none" spc="0" dirty="0">
              <a:ln w="0"/>
              <a:solidFill>
                <a:schemeClr val="accent6">
                  <a:lumMod val="40000"/>
                  <a:lumOff val="60000"/>
                </a:schemeClr>
              </a:solidFill>
              <a:effectLst>
                <a:reflection blurRad="19369" stA="26235" endPos="28999" dir="5400000" sy="-90000" algn="bl" rotWithShape="0"/>
              </a:effectLst>
              <a:latin typeface="Andale Mono" panose="020B050900000000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829A49-61D0-8A45-8339-77E8563AFEBB}"/>
              </a:ext>
            </a:extLst>
          </p:cNvPr>
          <p:cNvSpPr txBox="1"/>
          <p:nvPr/>
        </p:nvSpPr>
        <p:spPr>
          <a:xfrm>
            <a:off x="7759815" y="5887714"/>
            <a:ext cx="4264020" cy="889795"/>
          </a:xfrm>
          <a:custGeom>
            <a:avLst/>
            <a:gdLst>
              <a:gd name="connsiteX0" fmla="*/ 0 w 4264020"/>
              <a:gd name="connsiteY0" fmla="*/ 0 h 889795"/>
              <a:gd name="connsiteX1" fmla="*/ 4264020 w 4264020"/>
              <a:gd name="connsiteY1" fmla="*/ 0 h 889795"/>
              <a:gd name="connsiteX2" fmla="*/ 4264020 w 4264020"/>
              <a:gd name="connsiteY2" fmla="*/ 889795 h 889795"/>
              <a:gd name="connsiteX3" fmla="*/ 0 w 4264020"/>
              <a:gd name="connsiteY3" fmla="*/ 889795 h 889795"/>
              <a:gd name="connsiteX4" fmla="*/ 0 w 4264020"/>
              <a:gd name="connsiteY4" fmla="*/ 0 h 88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64020" h="889795" fill="none" extrusionOk="0">
                <a:moveTo>
                  <a:pt x="0" y="0"/>
                </a:moveTo>
                <a:cubicBezTo>
                  <a:pt x="1966228" y="-53886"/>
                  <a:pt x="3755979" y="-140671"/>
                  <a:pt x="4264020" y="0"/>
                </a:cubicBezTo>
                <a:cubicBezTo>
                  <a:pt x="4228476" y="373130"/>
                  <a:pt x="4228599" y="565773"/>
                  <a:pt x="4264020" y="889795"/>
                </a:cubicBezTo>
                <a:cubicBezTo>
                  <a:pt x="2353831" y="890266"/>
                  <a:pt x="1448744" y="727862"/>
                  <a:pt x="0" y="889795"/>
                </a:cubicBezTo>
                <a:cubicBezTo>
                  <a:pt x="64177" y="501281"/>
                  <a:pt x="-22646" y="228523"/>
                  <a:pt x="0" y="0"/>
                </a:cubicBezTo>
                <a:close/>
              </a:path>
              <a:path w="4264020" h="889795" stroke="0" extrusionOk="0">
                <a:moveTo>
                  <a:pt x="0" y="0"/>
                </a:moveTo>
                <a:cubicBezTo>
                  <a:pt x="568699" y="142333"/>
                  <a:pt x="2506629" y="-141840"/>
                  <a:pt x="4264020" y="0"/>
                </a:cubicBezTo>
                <a:cubicBezTo>
                  <a:pt x="4321696" y="185858"/>
                  <a:pt x="4218100" y="719774"/>
                  <a:pt x="4264020" y="889795"/>
                </a:cubicBezTo>
                <a:cubicBezTo>
                  <a:pt x="3385635" y="901802"/>
                  <a:pt x="1233092" y="779103"/>
                  <a:pt x="0" y="889795"/>
                </a:cubicBezTo>
                <a:cubicBezTo>
                  <a:pt x="65610" y="585304"/>
                  <a:pt x="25430" y="321148"/>
                  <a:pt x="0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72788"/>
            </a:schemeClr>
          </a:solidFill>
          <a:ln w="3175">
            <a:noFill/>
            <a:extLst>
              <a:ext uri="{C807C97D-BFC1-408E-A445-0C87EB9F89A2}">
                <ask:lineSketchStyleProps xmlns:ask="http://schemas.microsoft.com/office/drawing/2018/sketchyshapes" sd="246424606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Andale Mono" panose="020B0509000000000004" pitchFamily="49" charset="0"/>
              </a:rPr>
              <a:t>Prepared by: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Andale Mono" panose="020B0509000000000004" pitchFamily="49" charset="0"/>
              </a:rPr>
              <a:t>MD A RAHMAN RUHEL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Andale Mono" panose="020B0509000000000004" pitchFamily="49" charset="0"/>
              </a:rPr>
              <a:t>Data Analyst | Data Science Fellow @ Springboar</a:t>
            </a:r>
            <a:r>
              <a:rPr lang="en-US" sz="1000" dirty="0">
                <a:solidFill>
                  <a:schemeClr val="bg1"/>
                </a:solidFill>
                <a:latin typeface="Andale Mono" panose="020B0509000000000004" pitchFamily="49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252627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D59447-A528-7798-C823-2FE0B579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A5B5FC6-3C9E-3DCD-F072-D6085A7E6933}"/>
              </a:ext>
            </a:extLst>
          </p:cNvPr>
          <p:cNvSpPr txBox="1"/>
          <p:nvPr/>
        </p:nvSpPr>
        <p:spPr>
          <a:xfrm>
            <a:off x="2012729" y="435826"/>
            <a:ext cx="5933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Project Motivation</a:t>
            </a:r>
            <a:endParaRPr lang="en-US" sz="36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BA3ABE-9230-E010-2F65-9CED3B89D54F}"/>
              </a:ext>
            </a:extLst>
          </p:cNvPr>
          <p:cNvSpPr txBox="1"/>
          <p:nvPr/>
        </p:nvSpPr>
        <p:spPr>
          <a:xfrm>
            <a:off x="2012729" y="1339943"/>
            <a:ext cx="94645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Recent advancements in neural speech synthesis and voice cloning have made it possible to generate highly realistic fake human speech. These deepfake voices pose serious risks in: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DFFF15-60B1-C4D1-5AC4-C758A392925A}"/>
              </a:ext>
            </a:extLst>
          </p:cNvPr>
          <p:cNvSpPr txBox="1"/>
          <p:nvPr/>
        </p:nvSpPr>
        <p:spPr>
          <a:xfrm>
            <a:off x="2012728" y="2767280"/>
            <a:ext cx="899160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 AI voice cloning is getting frighteningly realistic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 Used for authentication bypass &amp; financial scams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b="0" i="0" u="none" strike="noStrike" dirty="0">
              <a:solidFill>
                <a:srgbClr val="FF0000"/>
              </a:solidFill>
              <a:effectLst/>
              <a:latin typeface="Andale Mono" panose="020B050900000000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C5ECD9-BBEE-045A-5B44-CAB399FB3788}"/>
              </a:ext>
            </a:extLst>
          </p:cNvPr>
          <p:cNvSpPr txBox="1"/>
          <p:nvPr/>
        </p:nvSpPr>
        <p:spPr>
          <a:xfrm>
            <a:off x="2443655" y="4757321"/>
            <a:ext cx="9464567" cy="1015663"/>
          </a:xfrm>
          <a:prstGeom prst="rect">
            <a:avLst/>
          </a:prstGeom>
          <a:solidFill>
            <a:schemeClr val="tx1">
              <a:lumMod val="85000"/>
              <a:lumOff val="15000"/>
              <a:alpha val="66934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Andale Mono" panose="020B0509000000000004" pitchFamily="49" charset="0"/>
              </a:rPr>
              <a:t>Traditional speech processing systems are not designed to detect synthetic voices and often fail when exposed to modern voice conversion (VC) or text-to-speech (TTS) models.</a:t>
            </a:r>
          </a:p>
        </p:txBody>
      </p:sp>
    </p:spTree>
    <p:extLst>
      <p:ext uri="{BB962C8B-B14F-4D97-AF65-F5344CB8AC3E}">
        <p14:creationId xmlns:p14="http://schemas.microsoft.com/office/powerpoint/2010/main" val="1779147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DD93E-A0A5-AC16-890B-DF035A0F4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3B70D16-D564-1B9F-5405-42FE579A6BD7}"/>
              </a:ext>
            </a:extLst>
          </p:cNvPr>
          <p:cNvSpPr txBox="1"/>
          <p:nvPr/>
        </p:nvSpPr>
        <p:spPr>
          <a:xfrm>
            <a:off x="2012729" y="435826"/>
            <a:ext cx="59330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400" b="1" i="0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ndale Mono" panose="020B0509000000000004" pitchFamily="49" charset="0"/>
              </a:rPr>
              <a:t>Project Goal</a:t>
            </a:r>
          </a:p>
        </p:txBody>
      </p:sp>
      <p:pic>
        <p:nvPicPr>
          <p:cNvPr id="6" name="Graphic 5" descr="Single gear outline">
            <a:extLst>
              <a:ext uri="{FF2B5EF4-FFF2-40B4-BE49-F238E27FC236}">
                <a16:creationId xmlns:a16="http://schemas.microsoft.com/office/drawing/2014/main" id="{6E84F88F-7696-5BCC-82F3-B555B88BD0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5B2C77-7725-FE3B-50FE-775F46798155}"/>
              </a:ext>
            </a:extLst>
          </p:cNvPr>
          <p:cNvSpPr txBox="1"/>
          <p:nvPr/>
        </p:nvSpPr>
        <p:spPr>
          <a:xfrm>
            <a:off x="2623862" y="1489219"/>
            <a:ext cx="7582928" cy="707886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  <a:prstDash val="dashDot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  <a:t>Train a deepfake voice detector using </a:t>
            </a:r>
            <a:r>
              <a:rPr lang="en-US" sz="2000" b="1" dirty="0">
                <a:solidFill>
                  <a:schemeClr val="bg1"/>
                </a:solidFill>
                <a:latin typeface="Andale Mono" panose="020B0509000000000004" pitchFamily="49" charset="0"/>
              </a:rPr>
              <a:t>ASVspoof 2019 (LA)</a:t>
            </a:r>
            <a:endParaRPr lang="en-US" sz="2000" dirty="0">
              <a:solidFill>
                <a:schemeClr val="bg1"/>
              </a:solidFill>
              <a:latin typeface="Andale Mono" panose="020B050900000000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3C3044-7BD2-450F-CA77-437BBF920163}"/>
              </a:ext>
            </a:extLst>
          </p:cNvPr>
          <p:cNvSpPr txBox="1"/>
          <p:nvPr/>
        </p:nvSpPr>
        <p:spPr>
          <a:xfrm>
            <a:off x="2623862" y="2756409"/>
            <a:ext cx="7582928" cy="707886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  <a:prstDash val="dashDot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  <a:t>Evaluate robustness on </a:t>
            </a:r>
            <a:r>
              <a:rPr lang="en-US" sz="2000" b="1" dirty="0">
                <a:solidFill>
                  <a:schemeClr val="bg1"/>
                </a:solidFill>
                <a:latin typeface="Andale Mono" panose="020B0509000000000004" pitchFamily="49" charset="0"/>
              </a:rPr>
              <a:t>ASVspoof (unlabeled eval split)</a:t>
            </a:r>
            <a: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  <a:t> before deployment testing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DC1672-DFC3-F0E5-15FF-3E14563CE12E}"/>
              </a:ext>
            </a:extLst>
          </p:cNvPr>
          <p:cNvSpPr txBox="1"/>
          <p:nvPr/>
        </p:nvSpPr>
        <p:spPr>
          <a:xfrm>
            <a:off x="2623862" y="4022675"/>
            <a:ext cx="7582928" cy="707886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  <a:prstDash val="dashDot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Test on real-world speech (</a:t>
            </a: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LibriSpeech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, </a:t>
            </a: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Common Voice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) to simulate deployment</a:t>
            </a:r>
            <a:endParaRPr lang="en-US" sz="2000" dirty="0">
              <a:solidFill>
                <a:schemeClr val="bg1"/>
              </a:solidFill>
              <a:latin typeface="Andale Mono" panose="020B050900000000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D2FB39-66AF-CA8D-DC4F-561DD6218020}"/>
              </a:ext>
            </a:extLst>
          </p:cNvPr>
          <p:cNvSpPr txBox="1"/>
          <p:nvPr/>
        </p:nvSpPr>
        <p:spPr>
          <a:xfrm>
            <a:off x="2623862" y="5275058"/>
            <a:ext cx="7582929" cy="1015663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  <a:prstDash val="dashDot"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Study </a:t>
            </a: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generalization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 across speakers, accents, and recording conditions — a key challenge in anti-spoofing</a:t>
            </a:r>
            <a:endParaRPr lang="en-US" sz="2000" dirty="0">
              <a:solidFill>
                <a:schemeClr val="bg1"/>
              </a:solidFill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806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835C7-E1E9-EB3A-BF12-5200A5162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66270A1-A4CF-1A18-D498-9D26367427AA}"/>
              </a:ext>
            </a:extLst>
          </p:cNvPr>
          <p:cNvSpPr txBox="1"/>
          <p:nvPr/>
        </p:nvSpPr>
        <p:spPr>
          <a:xfrm>
            <a:off x="2012729" y="435826"/>
            <a:ext cx="59330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b="1" i="0" u="none" strike="noStrike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ndale Mono" panose="020B0509000000000004" pitchFamily="49" charset="0"/>
              </a:rPr>
              <a:t>Dataset Overview</a:t>
            </a:r>
          </a:p>
        </p:txBody>
      </p:sp>
      <p:pic>
        <p:nvPicPr>
          <p:cNvPr id="6" name="Graphic 5" descr="Single gear outline">
            <a:extLst>
              <a:ext uri="{FF2B5EF4-FFF2-40B4-BE49-F238E27FC236}">
                <a16:creationId xmlns:a16="http://schemas.microsoft.com/office/drawing/2014/main" id="{EED22F08-02C7-AF08-0549-0F72AF2141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FD09AB-6E9A-312C-8038-7E742410F03F}"/>
              </a:ext>
            </a:extLst>
          </p:cNvPr>
          <p:cNvSpPr txBox="1"/>
          <p:nvPr/>
        </p:nvSpPr>
        <p:spPr>
          <a:xfrm>
            <a:off x="2313416" y="1534753"/>
            <a:ext cx="8795314" cy="1975477"/>
          </a:xfrm>
          <a:prstGeom prst="rect">
            <a:avLst/>
          </a:prstGeom>
          <a:solidFill>
            <a:schemeClr val="tx1">
              <a:alpha val="45000"/>
            </a:schemeClr>
          </a:solidFill>
          <a:ln>
            <a:noFill/>
            <a:prstDash val="dashDot"/>
          </a:ln>
          <a:effectLst>
            <a:glow rad="101600">
              <a:schemeClr val="accent6">
                <a:lumMod val="20000"/>
                <a:lumOff val="80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i="0" u="sng" strike="noStrike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ndale Mono" panose="020B0509000000000004" pitchFamily="49" charset="0"/>
              </a:rPr>
              <a:t>ASVspoof 2019 (LA)</a:t>
            </a:r>
            <a:br>
              <a:rPr lang="en-US" sz="2400" b="1" u="sng" dirty="0">
                <a:solidFill>
                  <a:schemeClr val="accent6"/>
                </a:solidFill>
                <a:latin typeface="Andale Mono" panose="020B0509000000000004" pitchFamily="49" charset="0"/>
              </a:rPr>
            </a:br>
            <a:r>
              <a:rPr lang="en-US" sz="2000" b="1" i="0" u="none" strike="noStrike" dirty="0">
                <a:solidFill>
                  <a:schemeClr val="accent6"/>
                </a:solidFill>
                <a:effectLst/>
                <a:latin typeface="Andale Mono" panose="020B0509000000000004" pitchFamily="49" charset="0"/>
              </a:rPr>
              <a:t>→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 real &amp; spoofed speech (TTS/VC) + protocol labels</a:t>
            </a:r>
            <a:b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</a:br>
            <a:r>
              <a:rPr lang="en-US" sz="2000" b="1" i="0" u="none" strike="noStrike" dirty="0">
                <a:solidFill>
                  <a:schemeClr val="accent6"/>
                </a:solidFill>
                <a:effectLst/>
                <a:latin typeface="Andale Mono" panose="020B0509000000000004" pitchFamily="49" charset="0"/>
              </a:rPr>
              <a:t>→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 used for training/validation/test</a:t>
            </a:r>
            <a:b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</a:br>
            <a:r>
              <a:rPr lang="en-US" sz="2000" b="1" i="0" u="none" strike="noStrike" dirty="0">
                <a:solidFill>
                  <a:schemeClr val="accent6"/>
                </a:solidFill>
                <a:effectLst/>
                <a:latin typeface="Andale Mono" panose="020B0509000000000004" pitchFamily="49" charset="0"/>
              </a:rPr>
              <a:t>→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 </a:t>
            </a: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Source: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 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asvspoof.org</a:t>
            </a:r>
            <a:endParaRPr lang="en-US" sz="2000" dirty="0">
              <a:solidFill>
                <a:schemeClr val="bg1"/>
              </a:solidFill>
              <a:latin typeface="Andale Mono" panose="020B050900000000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59C9B2-C68B-2A6C-9604-11B95A21AF12}"/>
              </a:ext>
            </a:extLst>
          </p:cNvPr>
          <p:cNvSpPr txBox="1"/>
          <p:nvPr/>
        </p:nvSpPr>
        <p:spPr>
          <a:xfrm>
            <a:off x="2313418" y="3892606"/>
            <a:ext cx="8795314" cy="1975477"/>
          </a:xfrm>
          <a:prstGeom prst="rect">
            <a:avLst/>
          </a:prstGeom>
          <a:solidFill>
            <a:schemeClr val="tx1">
              <a:alpha val="55293"/>
            </a:schemeClr>
          </a:solidFill>
          <a:ln>
            <a:noFill/>
            <a:prstDash val="dashDot"/>
          </a:ln>
          <a:effectLst>
            <a:glow rad="101600">
              <a:schemeClr val="accent6">
                <a:lumMod val="20000"/>
                <a:lumOff val="80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i="0" u="sng" strike="noStrike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ndale Mono" panose="020B0509000000000004" pitchFamily="49" charset="0"/>
              </a:rPr>
              <a:t>LibriSpeech</a:t>
            </a:r>
            <a:b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</a:br>
            <a:r>
              <a:rPr lang="en-US" sz="2000" b="1" i="0" u="none" strike="noStrike" dirty="0">
                <a:solidFill>
                  <a:schemeClr val="accent6"/>
                </a:solidFill>
                <a:effectLst/>
                <a:latin typeface="Andale Mono" panose="020B0509000000000004" pitchFamily="49" charset="0"/>
              </a:rPr>
              <a:t>→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 natural speech, multi-speaker</a:t>
            </a:r>
            <a:b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</a:br>
            <a:r>
              <a:rPr lang="en-US" sz="2000" b="1" i="0" u="none" strike="noStrike" dirty="0">
                <a:solidFill>
                  <a:schemeClr val="accent6"/>
                </a:solidFill>
                <a:effectLst/>
                <a:latin typeface="Andale Mono" panose="020B0509000000000004" pitchFamily="49" charset="0"/>
              </a:rPr>
              <a:t>→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 used to test out-of-domain false positives</a:t>
            </a:r>
            <a:b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</a:br>
            <a:r>
              <a:rPr lang="en-US" sz="2000" b="1" i="0" u="none" strike="noStrike" dirty="0">
                <a:solidFill>
                  <a:schemeClr val="accent6"/>
                </a:solidFill>
                <a:effectLst/>
                <a:latin typeface="Andale Mono" panose="020B0509000000000004" pitchFamily="49" charset="0"/>
              </a:rPr>
              <a:t>→ </a:t>
            </a: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Source: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 Hugging Face (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PyTorch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)</a:t>
            </a:r>
            <a:endParaRPr lang="en-US" sz="2000" dirty="0">
              <a:solidFill>
                <a:schemeClr val="bg1"/>
              </a:solidFill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64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DBC65-3032-79AE-D8D5-CEEDE8B2A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588D825-48FE-6B0A-2AF7-C5F6DCBB64AF}"/>
              </a:ext>
            </a:extLst>
          </p:cNvPr>
          <p:cNvSpPr txBox="1"/>
          <p:nvPr/>
        </p:nvSpPr>
        <p:spPr>
          <a:xfrm>
            <a:off x="3586654" y="378907"/>
            <a:ext cx="59330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b="1" i="0" u="none" strike="noStrike" dirty="0">
                <a:solidFill>
                  <a:schemeClr val="bg1">
                    <a:lumMod val="75000"/>
                  </a:schemeClr>
                </a:solidFill>
                <a:effectLst/>
                <a:latin typeface="Andale Mono" panose="020B0509000000000004" pitchFamily="49" charset="0"/>
              </a:rPr>
              <a:t>Data Wrangling</a:t>
            </a:r>
          </a:p>
        </p:txBody>
      </p:sp>
      <p:pic>
        <p:nvPicPr>
          <p:cNvPr id="6" name="Graphic 5" descr="Single gear outline">
            <a:extLst>
              <a:ext uri="{FF2B5EF4-FFF2-40B4-BE49-F238E27FC236}">
                <a16:creationId xmlns:a16="http://schemas.microsoft.com/office/drawing/2014/main" id="{7581C780-533F-B646-07FF-34DACEF4D6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29F80C-E5EF-F859-4221-F45F83428737}"/>
              </a:ext>
            </a:extLst>
          </p:cNvPr>
          <p:cNvSpPr txBox="1"/>
          <p:nvPr/>
        </p:nvSpPr>
        <p:spPr>
          <a:xfrm>
            <a:off x="2396840" y="1518604"/>
            <a:ext cx="6569566" cy="498150"/>
          </a:xfrm>
          <a:prstGeom prst="rect">
            <a:avLst/>
          </a:prstGeom>
          <a:solidFill>
            <a:schemeClr val="tx1">
              <a:alpha val="55293"/>
            </a:schemeClr>
          </a:solidFill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Parsed ASVspoof 2019 (LA) protocol files</a:t>
            </a:r>
            <a:endParaRPr lang="en-US" dirty="0">
              <a:solidFill>
                <a:schemeClr val="bg1"/>
              </a:solidFill>
              <a:latin typeface="Andale Mono" panose="020B050900000000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4E641C-6F55-FDCF-D837-95AEB5992717}"/>
              </a:ext>
            </a:extLst>
          </p:cNvPr>
          <p:cNvSpPr txBox="1"/>
          <p:nvPr/>
        </p:nvSpPr>
        <p:spPr>
          <a:xfrm>
            <a:off x="2396840" y="2316000"/>
            <a:ext cx="6569566" cy="498150"/>
          </a:xfrm>
          <a:prstGeom prst="rect">
            <a:avLst/>
          </a:prstGeom>
          <a:solidFill>
            <a:schemeClr val="tx1">
              <a:alpha val="55293"/>
            </a:schemeClr>
          </a:solidFill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Built a unified metadata table</a:t>
            </a:r>
            <a:endParaRPr lang="en-US" b="1" dirty="0">
              <a:solidFill>
                <a:schemeClr val="bg1">
                  <a:lumMod val="75000"/>
                </a:schemeClr>
              </a:solidFill>
              <a:latin typeface="Andale Mono" panose="020B05090000000000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575A57-4E81-F2AC-CF44-7F12146F3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795110"/>
              </p:ext>
            </p:extLst>
          </p:nvPr>
        </p:nvGraphicFramePr>
        <p:xfrm>
          <a:off x="2396840" y="3495036"/>
          <a:ext cx="8959020" cy="1928543"/>
        </p:xfrm>
        <a:graphic>
          <a:graphicData uri="http://schemas.openxmlformats.org/drawingml/2006/table">
            <a:tbl>
              <a:tblPr firstRow="1" firstCol="1" bandRow="1">
                <a:tableStyleId>{5202B0CA-FC54-4496-8BCA-5EF66A818D29}</a:tableStyleId>
              </a:tblPr>
              <a:tblGrid>
                <a:gridCol w="1587994">
                  <a:extLst>
                    <a:ext uri="{9D8B030D-6E8A-4147-A177-3AD203B41FA5}">
                      <a16:colId xmlns:a16="http://schemas.microsoft.com/office/drawing/2014/main" val="2880471368"/>
                    </a:ext>
                  </a:extLst>
                </a:gridCol>
                <a:gridCol w="1829248">
                  <a:extLst>
                    <a:ext uri="{9D8B030D-6E8A-4147-A177-3AD203B41FA5}">
                      <a16:colId xmlns:a16="http://schemas.microsoft.com/office/drawing/2014/main" val="1134144650"/>
                    </a:ext>
                  </a:extLst>
                </a:gridCol>
                <a:gridCol w="1622164">
                  <a:extLst>
                    <a:ext uri="{9D8B030D-6E8A-4147-A177-3AD203B41FA5}">
                      <a16:colId xmlns:a16="http://schemas.microsoft.com/office/drawing/2014/main" val="2677031958"/>
                    </a:ext>
                  </a:extLst>
                </a:gridCol>
                <a:gridCol w="1415079">
                  <a:extLst>
                    <a:ext uri="{9D8B030D-6E8A-4147-A177-3AD203B41FA5}">
                      <a16:colId xmlns:a16="http://schemas.microsoft.com/office/drawing/2014/main" val="159191242"/>
                    </a:ext>
                  </a:extLst>
                </a:gridCol>
                <a:gridCol w="2504535">
                  <a:extLst>
                    <a:ext uri="{9D8B030D-6E8A-4147-A177-3AD203B41FA5}">
                      <a16:colId xmlns:a16="http://schemas.microsoft.com/office/drawing/2014/main" val="1379439636"/>
                    </a:ext>
                  </a:extLst>
                </a:gridCol>
              </a:tblGrid>
              <a:tr h="3830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bg1"/>
                          </a:solidFill>
                          <a:effectLst/>
                          <a:latin typeface="Andale Mono" panose="020B0509000000000004" pitchFamily="49" charset="0"/>
                        </a:rPr>
                        <a:t>split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 err="1">
                          <a:solidFill>
                            <a:schemeClr val="bg1"/>
                          </a:solidFill>
                          <a:effectLst/>
                          <a:latin typeface="Andale Mono" panose="020B0509000000000004" pitchFamily="49" charset="0"/>
                        </a:rPr>
                        <a:t>file_id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bg1"/>
                          </a:solidFill>
                          <a:effectLst/>
                          <a:latin typeface="Andale Mono" panose="020B0509000000000004" pitchFamily="49" charset="0"/>
                        </a:rPr>
                        <a:t>attack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bg1"/>
                          </a:solidFill>
                          <a:effectLst/>
                          <a:latin typeface="Andale Mono" panose="020B0509000000000004" pitchFamily="49" charset="0"/>
                        </a:rPr>
                        <a:t>label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 err="1">
                          <a:solidFill>
                            <a:schemeClr val="bg1"/>
                          </a:solidFill>
                          <a:effectLst/>
                          <a:latin typeface="Andale Mono" panose="020B0509000000000004" pitchFamily="49" charset="0"/>
                        </a:rPr>
                        <a:t>filepath</a:t>
                      </a:r>
                      <a:endParaRPr lang="en-US" sz="1600" kern="100" dirty="0">
                        <a:solidFill>
                          <a:schemeClr val="bg1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582752"/>
                  </a:ext>
                </a:extLst>
              </a:tr>
              <a:tr h="5151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ndale Mono" panose="020B0509000000000004" pitchFamily="49" charset="0"/>
                        </a:rPr>
                        <a:t>train</a:t>
                      </a:r>
                      <a:endParaRPr lang="en-US" sz="140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ndale Mono" panose="020B0509000000000004" pitchFamily="49" charset="0"/>
                        </a:rPr>
                        <a:t>LA_T_1138215</a:t>
                      </a:r>
                      <a:endParaRPr lang="en-US" sz="1400" kern="10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ndale Mono" panose="020B0509000000000004" pitchFamily="49" charset="0"/>
                        </a:rPr>
                        <a:t>None</a:t>
                      </a:r>
                      <a:endParaRPr lang="en-US" sz="1400" kern="10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ndale Mono" panose="020B0509000000000004" pitchFamily="49" charset="0"/>
                        </a:rPr>
                        <a:t>0</a:t>
                      </a:r>
                      <a:endParaRPr lang="en-US" sz="1400" kern="10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ndale Mono" panose="020B0509000000000004" pitchFamily="49" charset="0"/>
                        </a:rPr>
                        <a:t>/content/asvspoof/ASVspoof2019_LA_train/flac/L…</a:t>
                      </a:r>
                      <a:endParaRPr lang="en-US" sz="1400" kern="10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417836"/>
                  </a:ext>
                </a:extLst>
              </a:tr>
              <a:tr h="5151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ndale Mono" panose="020B0509000000000004" pitchFamily="49" charset="0"/>
                        </a:rPr>
                        <a:t>train</a:t>
                      </a:r>
                      <a:endParaRPr lang="en-US" sz="1400" kern="10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ndale Mono" panose="020B0509000000000004" pitchFamily="49" charset="0"/>
                        </a:rPr>
                        <a:t>LA_T_1271820</a:t>
                      </a:r>
                      <a:endParaRPr lang="en-US" sz="1400" kern="10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ndale Mono" panose="020B0509000000000004" pitchFamily="49" charset="0"/>
                        </a:rPr>
                        <a:t>None</a:t>
                      </a:r>
                      <a:endParaRPr lang="en-US" sz="1400" kern="10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ndale Mono" panose="020B0509000000000004" pitchFamily="49" charset="0"/>
                        </a:rPr>
                        <a:t>0</a:t>
                      </a:r>
                      <a:endParaRPr lang="en-US" sz="1400" kern="10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ndale Mono" panose="020B0509000000000004" pitchFamily="49" charset="0"/>
                        </a:rPr>
                        <a:t>/content/asvspoof/ASVspoof2019_LA_train/flac/L…</a:t>
                      </a:r>
                      <a:endParaRPr lang="en-US" sz="1400" kern="10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989468"/>
                  </a:ext>
                </a:extLst>
              </a:tr>
              <a:tr h="5151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ndale Mono" panose="020B0509000000000004" pitchFamily="49" charset="0"/>
                        </a:rPr>
                        <a:t>train</a:t>
                      </a:r>
                      <a:endParaRPr lang="en-US" sz="1400" kern="10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ndale Mono" panose="020B0509000000000004" pitchFamily="49" charset="0"/>
                        </a:rPr>
                        <a:t>LA_T_1272637</a:t>
                      </a:r>
                      <a:endParaRPr lang="en-US" sz="1400" kern="10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ndale Mono" panose="020B0509000000000004" pitchFamily="49" charset="0"/>
                        </a:rPr>
                        <a:t>None</a:t>
                      </a:r>
                      <a:endParaRPr lang="en-US" sz="1400" kern="10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ndale Mono" panose="020B0509000000000004" pitchFamily="49" charset="0"/>
                        </a:rPr>
                        <a:t>0</a:t>
                      </a:r>
                      <a:endParaRPr lang="en-US" sz="1400" kern="10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ndale Mono" panose="020B0509000000000004" pitchFamily="49" charset="0"/>
                        </a:rPr>
                        <a:t>/content/</a:t>
                      </a:r>
                      <a:r>
                        <a:rPr lang="en-US" sz="1200" kern="1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ndale Mono" panose="020B0509000000000004" pitchFamily="49" charset="0"/>
                        </a:rPr>
                        <a:t>asvspoof</a:t>
                      </a:r>
                      <a:r>
                        <a:rPr lang="en-US" sz="1200" kern="1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ndale Mono" panose="020B0509000000000004" pitchFamily="49" charset="0"/>
                        </a:rPr>
                        <a:t>/ASVspoof2019_LA_train/</a:t>
                      </a:r>
                      <a:r>
                        <a:rPr lang="en-US" sz="1200" kern="1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ndale Mono" panose="020B0509000000000004" pitchFamily="49" charset="0"/>
                        </a:rPr>
                        <a:t>flac</a:t>
                      </a:r>
                      <a:r>
                        <a:rPr lang="en-US" sz="1200" kern="1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ndale Mono" panose="020B0509000000000004" pitchFamily="49" charset="0"/>
                        </a:rPr>
                        <a:t>/L…</a:t>
                      </a:r>
                      <a:endParaRPr lang="en-US" sz="140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solidFill>
                      <a:srgbClr val="000000">
                        <a:alpha val="8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77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1458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66706B-3416-BACC-A584-CDE6D8E92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43D820-B608-0ACE-B2DE-54946C05758A}"/>
              </a:ext>
            </a:extLst>
          </p:cNvPr>
          <p:cNvSpPr txBox="1"/>
          <p:nvPr/>
        </p:nvSpPr>
        <p:spPr>
          <a:xfrm>
            <a:off x="1265359" y="616386"/>
            <a:ext cx="101325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b="1" i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ndale Mono" panose="020B0509000000000004" pitchFamily="49" charset="0"/>
              </a:rPr>
              <a:t>Exploratory Data analysis - EDA</a:t>
            </a:r>
          </a:p>
        </p:txBody>
      </p:sp>
      <p:pic>
        <p:nvPicPr>
          <p:cNvPr id="6" name="Graphic 5" descr="Single gear outline">
            <a:extLst>
              <a:ext uri="{FF2B5EF4-FFF2-40B4-BE49-F238E27FC236}">
                <a16:creationId xmlns:a16="http://schemas.microsoft.com/office/drawing/2014/main" id="{F5CE0200-7E03-A51A-417E-2C6B0A4CE2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3787346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E1A5CC-63BE-9346-7C55-F28B2E96BBB9}"/>
              </a:ext>
            </a:extLst>
          </p:cNvPr>
          <p:cNvSpPr txBox="1"/>
          <p:nvPr/>
        </p:nvSpPr>
        <p:spPr>
          <a:xfrm>
            <a:off x="2594547" y="1643943"/>
            <a:ext cx="7080794" cy="461665"/>
          </a:xfrm>
          <a:prstGeom prst="rect">
            <a:avLst/>
          </a:prstGeom>
          <a:noFill/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4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Label Distribution (Real VS Spoof)</a:t>
            </a:r>
            <a:endParaRPr lang="en-US" sz="24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F30CDBB-00E5-5DBD-CCB1-53B14C681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547" y="2620460"/>
            <a:ext cx="5684480" cy="32481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CEF5DB-BF6D-4D34-4DB0-037B5EFFFC24}"/>
              </a:ext>
            </a:extLst>
          </p:cNvPr>
          <p:cNvSpPr txBox="1"/>
          <p:nvPr/>
        </p:nvSpPr>
        <p:spPr>
          <a:xfrm>
            <a:off x="8749410" y="2659512"/>
            <a:ext cx="3582068" cy="2554545"/>
          </a:xfrm>
          <a:prstGeom prst="rect">
            <a:avLst/>
          </a:prstGeom>
          <a:noFill/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Spoofed: 45,096</a:t>
            </a: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Real: 5,128</a:t>
            </a:r>
          </a:p>
          <a:p>
            <a:pPr algn="l"/>
            <a:endParaRPr lang="en-US" sz="20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  <a:p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This imbalance is </a:t>
            </a:r>
          </a:p>
          <a:p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intentional and </a:t>
            </a:r>
          </a:p>
          <a:p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reflects the task setting</a:t>
            </a:r>
          </a:p>
        </p:txBody>
      </p:sp>
    </p:spTree>
    <p:extLst>
      <p:ext uri="{BB962C8B-B14F-4D97-AF65-F5344CB8AC3E}">
        <p14:creationId xmlns:p14="http://schemas.microsoft.com/office/powerpoint/2010/main" val="2713454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2D802-E2E7-8061-ACE2-473FBA27D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E3074DC-05DD-3EC3-6110-9C6D749EFD42}"/>
              </a:ext>
            </a:extLst>
          </p:cNvPr>
          <p:cNvSpPr txBox="1"/>
          <p:nvPr/>
        </p:nvSpPr>
        <p:spPr>
          <a:xfrm>
            <a:off x="1265359" y="616386"/>
            <a:ext cx="101325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b="1" i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ndale Mono" panose="020B0509000000000004" pitchFamily="49" charset="0"/>
              </a:rPr>
              <a:t>Exploratory Data analysis - EDA</a:t>
            </a:r>
          </a:p>
        </p:txBody>
      </p:sp>
      <p:pic>
        <p:nvPicPr>
          <p:cNvPr id="6" name="Graphic 5" descr="Single gear outline">
            <a:extLst>
              <a:ext uri="{FF2B5EF4-FFF2-40B4-BE49-F238E27FC236}">
                <a16:creationId xmlns:a16="http://schemas.microsoft.com/office/drawing/2014/main" id="{B686C59E-8A15-7FDB-D980-7B40A25B88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3787346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CB2D06-EDCE-AEE2-0CC8-D664A81271D2}"/>
              </a:ext>
            </a:extLst>
          </p:cNvPr>
          <p:cNvSpPr txBox="1"/>
          <p:nvPr/>
        </p:nvSpPr>
        <p:spPr>
          <a:xfrm>
            <a:off x="2137347" y="1563970"/>
            <a:ext cx="5524668" cy="461665"/>
          </a:xfrm>
          <a:prstGeom prst="rect">
            <a:avLst/>
          </a:prstGeom>
          <a:noFill/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4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Audio Duration Analysis</a:t>
            </a:r>
            <a:endParaRPr lang="en-US" sz="24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4AF16B-4931-DFF4-1D81-DCEC5113D585}"/>
              </a:ext>
            </a:extLst>
          </p:cNvPr>
          <p:cNvSpPr txBox="1"/>
          <p:nvPr/>
        </p:nvSpPr>
        <p:spPr>
          <a:xfrm>
            <a:off x="8489917" y="2327323"/>
            <a:ext cx="3582068" cy="3822137"/>
          </a:xfrm>
          <a:prstGeom prst="rect">
            <a:avLst/>
          </a:prstGeom>
          <a:noFill/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Andale Mono" panose="020B0509000000000004" pitchFamily="49" charset="0"/>
              </a:rPr>
              <a:t>Narrow duration distribution (</a:t>
            </a:r>
            <a:r>
              <a:rPr lang="en-US" b="1" dirty="0">
                <a:solidFill>
                  <a:schemeClr val="bg1"/>
                </a:solidFill>
                <a:latin typeface="Andale Mono" panose="020B0509000000000004" pitchFamily="49" charset="0"/>
              </a:rPr>
              <a:t>2.5–4.5s</a:t>
            </a:r>
            <a:r>
              <a:rPr lang="en-US" dirty="0">
                <a:solidFill>
                  <a:schemeClr val="bg1"/>
                </a:solidFill>
                <a:latin typeface="Andale Mono" panose="020B0509000000000004" pitchFamily="49" charset="0"/>
              </a:rPr>
              <a:t> typical)</a:t>
            </a:r>
          </a:p>
          <a:p>
            <a:pPr marL="342900" indent="-342900">
              <a:lnSpc>
                <a:spcPct val="15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Andale Mono" panose="020B0509000000000004" pitchFamily="49" charset="0"/>
              </a:rPr>
              <a:t>Occasional long-tail outliers (~&gt;5s)</a:t>
            </a:r>
          </a:p>
          <a:p>
            <a:pPr marL="342900" indent="-342900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Andale Mono" panose="020B0509000000000004" pitchFamily="49" charset="0"/>
              </a:rPr>
              <a:t>Consistent lengths reduce temporal padding complexity</a:t>
            </a:r>
          </a:p>
          <a:p>
            <a:pPr algn="l">
              <a:lnSpc>
                <a:spcPct val="150000"/>
              </a:lnSpc>
            </a:pPr>
            <a:endParaRPr lang="en-US" sz="20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CD16979-D438-A114-15E0-90327626E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738" y="2339632"/>
            <a:ext cx="5876120" cy="380982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525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7AA39-777C-901E-D4F1-8AD8BB72C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EB5A63E-9E5C-C116-9E97-AA346F1BB1BF}"/>
              </a:ext>
            </a:extLst>
          </p:cNvPr>
          <p:cNvSpPr txBox="1"/>
          <p:nvPr/>
        </p:nvSpPr>
        <p:spPr>
          <a:xfrm>
            <a:off x="1265359" y="616386"/>
            <a:ext cx="101325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b="1" i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ndale Mono" panose="020B0509000000000004" pitchFamily="49" charset="0"/>
              </a:rPr>
              <a:t>Exploratory Data analysis - EDA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FA149E-A59E-E756-C7BE-FE4A4C58551E}"/>
              </a:ext>
            </a:extLst>
          </p:cNvPr>
          <p:cNvSpPr txBox="1"/>
          <p:nvPr/>
        </p:nvSpPr>
        <p:spPr>
          <a:xfrm>
            <a:off x="2137346" y="1563970"/>
            <a:ext cx="6673021" cy="461665"/>
          </a:xfrm>
          <a:prstGeom prst="rect">
            <a:avLst/>
          </a:prstGeom>
          <a:noFill/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4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Listening to Real vs Spoof Samples</a:t>
            </a:r>
            <a:endParaRPr lang="en-US" sz="24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</p:txBody>
      </p:sp>
      <p:pic>
        <p:nvPicPr>
          <p:cNvPr id="2" name="real_sample.wav">
            <a:hlinkClick r:id="" action="ppaction://media"/>
            <a:extLst>
              <a:ext uri="{FF2B5EF4-FFF2-40B4-BE49-F238E27FC236}">
                <a16:creationId xmlns:a16="http://schemas.microsoft.com/office/drawing/2014/main" id="{605ABDAF-91EB-4BB3-F2EF-173CD93844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779606" y="3539367"/>
            <a:ext cx="1410231" cy="1410231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E56315-CA0E-B97C-D9D5-C7E607CC5FDE}"/>
              </a:ext>
            </a:extLst>
          </p:cNvPr>
          <p:cNvSpPr txBox="1"/>
          <p:nvPr/>
        </p:nvSpPr>
        <p:spPr>
          <a:xfrm>
            <a:off x="2137346" y="2654367"/>
            <a:ext cx="4358189" cy="461665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4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Real sample audio clip</a:t>
            </a:r>
            <a:endParaRPr lang="en-US" sz="24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9F538-7476-E331-FE9A-61938320E212}"/>
              </a:ext>
            </a:extLst>
          </p:cNvPr>
          <p:cNvSpPr txBox="1"/>
          <p:nvPr/>
        </p:nvSpPr>
        <p:spPr>
          <a:xfrm>
            <a:off x="6915479" y="2677790"/>
            <a:ext cx="4638090" cy="461665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ndale Mono" panose="020B0509000000000004" pitchFamily="49" charset="0"/>
              </a:rPr>
              <a:t>Spoof</a:t>
            </a:r>
            <a:r>
              <a:rPr lang="en-US" sz="24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 sample audio clip</a:t>
            </a:r>
            <a:endParaRPr lang="en-US" sz="24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</p:txBody>
      </p:sp>
      <p:pic>
        <p:nvPicPr>
          <p:cNvPr id="9" name="spof_sample.wav">
            <a:hlinkClick r:id="" action="ppaction://media"/>
            <a:extLst>
              <a:ext uri="{FF2B5EF4-FFF2-40B4-BE49-F238E27FC236}">
                <a16:creationId xmlns:a16="http://schemas.microsoft.com/office/drawing/2014/main" id="{F7C89E70-B7E8-EC6C-04B3-ADE5D51C07D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421723" y="3576437"/>
            <a:ext cx="1265973" cy="126597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8E7748-74EF-F22B-28B0-0811B1A2F816}"/>
              </a:ext>
            </a:extLst>
          </p:cNvPr>
          <p:cNvSpPr txBox="1"/>
          <p:nvPr/>
        </p:nvSpPr>
        <p:spPr>
          <a:xfrm>
            <a:off x="3381261" y="5488843"/>
            <a:ext cx="6673021" cy="707886"/>
          </a:xfrm>
          <a:prstGeom prst="rect">
            <a:avLst/>
          </a:prstGeom>
          <a:solidFill>
            <a:schemeClr val="tx1"/>
          </a:solidFill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spoof audio in ASVspoof LA is noticeably distinguishable from real speech. </a:t>
            </a:r>
          </a:p>
        </p:txBody>
      </p:sp>
    </p:spTree>
    <p:extLst>
      <p:ext uri="{BB962C8B-B14F-4D97-AF65-F5344CB8AC3E}">
        <p14:creationId xmlns:p14="http://schemas.microsoft.com/office/powerpoint/2010/main" val="2789083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2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83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7AA39-777C-901E-D4F1-8AD8BB72C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EB5A63E-9E5C-C116-9E97-AA346F1BB1BF}"/>
              </a:ext>
            </a:extLst>
          </p:cNvPr>
          <p:cNvSpPr txBox="1"/>
          <p:nvPr/>
        </p:nvSpPr>
        <p:spPr>
          <a:xfrm>
            <a:off x="1351856" y="498967"/>
            <a:ext cx="101325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b="1" i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ndale Mono" panose="020B0509000000000004" pitchFamily="49" charset="0"/>
              </a:rPr>
              <a:t>Exploratory Data analysis - EDA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FA149E-A59E-E756-C7BE-FE4A4C58551E}"/>
              </a:ext>
            </a:extLst>
          </p:cNvPr>
          <p:cNvSpPr txBox="1"/>
          <p:nvPr/>
        </p:nvSpPr>
        <p:spPr>
          <a:xfrm>
            <a:off x="2229185" y="1206853"/>
            <a:ext cx="7871253" cy="461665"/>
          </a:xfrm>
          <a:prstGeom prst="rect">
            <a:avLst/>
          </a:prstGeom>
          <a:noFill/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4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Spectrogram Inspection (Real vs Spoof) </a:t>
            </a:r>
            <a:endParaRPr lang="en-US" sz="24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8E7748-74EF-F22B-28B0-0811B1A2F816}"/>
              </a:ext>
            </a:extLst>
          </p:cNvPr>
          <p:cNvSpPr txBox="1"/>
          <p:nvPr/>
        </p:nvSpPr>
        <p:spPr>
          <a:xfrm>
            <a:off x="2377465" y="5343370"/>
            <a:ext cx="3998621" cy="1015663"/>
          </a:xfrm>
          <a:prstGeom prst="rect">
            <a:avLst/>
          </a:prstGeom>
          <a:solidFill>
            <a:schemeClr val="tx1"/>
          </a:solidFill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Real (Bona-fide) Speech:</a:t>
            </a:r>
          </a:p>
          <a:p>
            <a:pPr marL="342900" indent="-342900" algn="l">
              <a:buFont typeface="Wingdings" pitchFamily="2" charset="2"/>
              <a:buChar char="v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natural variability</a:t>
            </a:r>
          </a:p>
          <a:p>
            <a:pPr marL="342900" indent="-342900" algn="l">
              <a:buFont typeface="Wingdings" pitchFamily="2" charset="2"/>
              <a:buChar char="v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imperfect harmonics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19D53E1-F2D5-194A-10C1-66A28FD64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465" y="1877110"/>
            <a:ext cx="8879540" cy="3285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76BA6C-BCE6-40D8-71CA-99346D91C18F}"/>
              </a:ext>
            </a:extLst>
          </p:cNvPr>
          <p:cNvSpPr txBox="1"/>
          <p:nvPr/>
        </p:nvSpPr>
        <p:spPr>
          <a:xfrm>
            <a:off x="6706449" y="5328026"/>
            <a:ext cx="4674124" cy="1015663"/>
          </a:xfrm>
          <a:prstGeom prst="rect">
            <a:avLst/>
          </a:prstGeom>
          <a:solidFill>
            <a:schemeClr val="tx1"/>
          </a:solidFill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Spoofed</a:t>
            </a:r>
            <a:endParaRPr lang="en-US" sz="20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buFont typeface="Wingdings" pitchFamily="2" charset="2"/>
              <a:buChar char="v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stable harmonics</a:t>
            </a:r>
          </a:p>
          <a:p>
            <a:pPr marL="342900" indent="-342900" algn="l">
              <a:buFont typeface="Wingdings" pitchFamily="2" charset="2"/>
              <a:buChar char="v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synthetic/vocoder artifacts</a:t>
            </a:r>
          </a:p>
        </p:txBody>
      </p:sp>
    </p:spTree>
    <p:extLst>
      <p:ext uri="{BB962C8B-B14F-4D97-AF65-F5344CB8AC3E}">
        <p14:creationId xmlns:p14="http://schemas.microsoft.com/office/powerpoint/2010/main" val="2728586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C4EED9-CCDE-D98E-47D7-2740A407D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438A204-C5FE-8FC6-0961-3A729DD9854C}"/>
              </a:ext>
            </a:extLst>
          </p:cNvPr>
          <p:cNvSpPr txBox="1"/>
          <p:nvPr/>
        </p:nvSpPr>
        <p:spPr>
          <a:xfrm>
            <a:off x="1520306" y="268161"/>
            <a:ext cx="53455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400" b="1" i="0" u="none" strike="noStrike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Andale Mono" panose="020B0509000000000004" pitchFamily="49" charset="0"/>
              </a:rPr>
              <a:t>Preprocessing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F35CEF-351C-A228-B3B5-6CA577D41D97}"/>
              </a:ext>
            </a:extLst>
          </p:cNvPr>
          <p:cNvSpPr txBox="1"/>
          <p:nvPr/>
        </p:nvSpPr>
        <p:spPr>
          <a:xfrm>
            <a:off x="1643874" y="1130210"/>
            <a:ext cx="4604101" cy="461665"/>
          </a:xfrm>
          <a:prstGeom prst="rect">
            <a:avLst/>
          </a:prstGeom>
          <a:noFill/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4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Preprocessing pipeline</a:t>
            </a:r>
            <a:endParaRPr lang="en-US" sz="24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7282AF-F602-F24A-9B97-A1FE8DB5048D}"/>
              </a:ext>
            </a:extLst>
          </p:cNvPr>
          <p:cNvSpPr txBox="1"/>
          <p:nvPr/>
        </p:nvSpPr>
        <p:spPr>
          <a:xfrm>
            <a:off x="3518408" y="1684484"/>
            <a:ext cx="5670476" cy="4893647"/>
          </a:xfrm>
          <a:prstGeom prst="rect">
            <a:avLst/>
          </a:prstGeom>
          <a:solidFill>
            <a:schemeClr val="tx1">
              <a:lumMod val="95000"/>
              <a:lumOff val="5000"/>
              <a:alpha val="73000"/>
            </a:schemeClr>
          </a:solidFill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FF7E79"/>
                </a:solidFill>
                <a:latin typeface="Andale Mono" panose="020B0509000000000004" pitchFamily="49" charset="0"/>
              </a:rPr>
              <a:t>   </a:t>
            </a:r>
          </a:p>
          <a:p>
            <a:pPr algn="l"/>
            <a:r>
              <a:rPr lang="en-US" sz="2400" b="1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   Audio (.</a:t>
            </a:r>
            <a:r>
              <a:rPr lang="en-US" sz="2400" b="1" i="0" u="none" strike="noStrike" dirty="0" err="1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flac</a:t>
            </a:r>
            <a:r>
              <a:rPr lang="en-US" sz="2400" b="1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/.wav)</a:t>
            </a:r>
          </a:p>
          <a:p>
            <a:pPr algn="l"/>
            <a:r>
              <a:rPr lang="en-US" sz="2400" b="1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          ↓</a:t>
            </a:r>
          </a:p>
          <a:p>
            <a:pPr algn="l"/>
            <a:r>
              <a:rPr lang="en-US" sz="2400" b="1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 Load &amp; Normalize (</a:t>
            </a:r>
            <a:r>
              <a:rPr lang="en-US" sz="2400" b="1" i="0" u="none" strike="noStrike" dirty="0" err="1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librosa</a:t>
            </a:r>
            <a:r>
              <a:rPr lang="en-US" sz="2400" b="1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)</a:t>
            </a:r>
          </a:p>
          <a:p>
            <a:pPr algn="l"/>
            <a:r>
              <a:rPr lang="en-US" sz="2400" b="1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          ↓</a:t>
            </a:r>
          </a:p>
          <a:p>
            <a:pPr algn="l"/>
            <a:r>
              <a:rPr lang="en-US" sz="2400" b="1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    LFCC Extraction</a:t>
            </a:r>
          </a:p>
          <a:p>
            <a:pPr algn="l"/>
            <a:r>
              <a:rPr lang="en-US" sz="2400" b="1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          ↓</a:t>
            </a:r>
          </a:p>
          <a:p>
            <a:pPr algn="l"/>
            <a:r>
              <a:rPr lang="en-US" sz="2400" b="1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   Precompute Features</a:t>
            </a:r>
          </a:p>
          <a:p>
            <a:pPr algn="l"/>
            <a:r>
              <a:rPr lang="en-US" sz="2400" b="1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          ↓</a:t>
            </a:r>
          </a:p>
          <a:p>
            <a:pPr algn="l"/>
            <a:r>
              <a:rPr lang="en-US" sz="2400" b="1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  </a:t>
            </a:r>
            <a:r>
              <a:rPr lang="en-US" sz="2400" b="1" i="0" u="none" strike="noStrike" dirty="0" err="1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PyTorch</a:t>
            </a:r>
            <a:r>
              <a:rPr lang="en-US" sz="2400" b="1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 </a:t>
            </a:r>
            <a:r>
              <a:rPr lang="en-US" sz="2400" b="1" i="0" u="none" strike="noStrike" dirty="0" err="1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DataLoader</a:t>
            </a:r>
            <a:r>
              <a:rPr lang="en-US" sz="2400" b="1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 </a:t>
            </a:r>
          </a:p>
          <a:p>
            <a:pPr algn="l"/>
            <a:r>
              <a:rPr lang="en-US" sz="2400" b="1" dirty="0">
                <a:solidFill>
                  <a:srgbClr val="FF7E79"/>
                </a:solidFill>
                <a:latin typeface="Andale Mono" panose="020B0509000000000004" pitchFamily="49" charset="0"/>
              </a:rPr>
              <a:t>          </a:t>
            </a:r>
            <a:r>
              <a:rPr lang="en-US" sz="2400" b="1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↓ </a:t>
            </a:r>
          </a:p>
          <a:p>
            <a:pPr algn="l"/>
            <a:r>
              <a:rPr lang="en-US" sz="2400" b="1" dirty="0">
                <a:solidFill>
                  <a:srgbClr val="FF7E79"/>
                </a:solidFill>
                <a:latin typeface="Andale Mono" panose="020B0509000000000004" pitchFamily="49" charset="0"/>
              </a:rPr>
              <a:t>         </a:t>
            </a:r>
            <a:r>
              <a:rPr lang="en-US" sz="2400" b="1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Model</a:t>
            </a:r>
          </a:p>
          <a:p>
            <a:pPr algn="l"/>
            <a:endParaRPr lang="en-US" sz="2400" b="0" i="0" u="none" strike="noStrike" dirty="0">
              <a:solidFill>
                <a:srgbClr val="FF7E79"/>
              </a:solidFill>
              <a:effectLst/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4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6FA9F5-C50D-4F0B-62B8-CCC1DBA35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AEB6257-EAFE-C39B-9AE7-F42769D55ECB}"/>
              </a:ext>
            </a:extLst>
          </p:cNvPr>
          <p:cNvSpPr txBox="1"/>
          <p:nvPr/>
        </p:nvSpPr>
        <p:spPr>
          <a:xfrm>
            <a:off x="2784390" y="347931"/>
            <a:ext cx="53455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b="1" i="0" u="none" strike="noStrike" dirty="0"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Andale Mono" panose="020B0509000000000004" pitchFamily="49" charset="0"/>
              </a:rPr>
              <a:t>Preprocessing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DD6BF8-00EE-E171-AED7-51A4D162B2AB}"/>
              </a:ext>
            </a:extLst>
          </p:cNvPr>
          <p:cNvSpPr txBox="1"/>
          <p:nvPr/>
        </p:nvSpPr>
        <p:spPr>
          <a:xfrm>
            <a:off x="2784390" y="1297882"/>
            <a:ext cx="4604101" cy="523220"/>
          </a:xfrm>
          <a:prstGeom prst="rect">
            <a:avLst/>
          </a:prstGeom>
          <a:noFill/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Andale Mono" panose="020B0509000000000004" pitchFamily="49" charset="0"/>
              </a:rPr>
              <a:t>Motivation for LFCC:</a:t>
            </a:r>
            <a:endParaRPr lang="en-US" sz="2800" b="0" i="0" u="none" strike="noStrike" dirty="0">
              <a:solidFill>
                <a:schemeClr val="bg1">
                  <a:lumMod val="85000"/>
                </a:schemeClr>
              </a:solidFill>
              <a:effectLst/>
              <a:latin typeface="Andale Mono" panose="020B050900000000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DCE1-12F1-142E-19D8-44A3597939CF}"/>
              </a:ext>
            </a:extLst>
          </p:cNvPr>
          <p:cNvSpPr txBox="1"/>
          <p:nvPr/>
        </p:nvSpPr>
        <p:spPr>
          <a:xfrm>
            <a:off x="2994454" y="3594506"/>
            <a:ext cx="8003059" cy="2708434"/>
          </a:xfrm>
          <a:prstGeom prst="rect">
            <a:avLst/>
          </a:prstGeom>
          <a:solidFill>
            <a:schemeClr val="tx1">
              <a:alpha val="80017"/>
            </a:schemeClr>
          </a:solidFill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ndale Mono" panose="020B0509000000000004" pitchFamily="49" charset="0"/>
              </a:rPr>
              <a:t>Why LFCC?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Andale Mono" panose="020B0509000000000004" pitchFamily="49" charset="0"/>
              </a:rPr>
              <a:t>Preserves 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ndale Mono" panose="020B0509000000000004" pitchFamily="49" charset="0"/>
              </a:rPr>
              <a:t>linear frequency detail</a:t>
            </a:r>
            <a:endParaRPr lang="en-US" sz="2000" dirty="0">
              <a:solidFill>
                <a:schemeClr val="bg1">
                  <a:lumMod val="85000"/>
                </a:schemeClr>
              </a:solidFill>
              <a:latin typeface="Andale Mono" panose="020B0509000000000004" pitchFamily="49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Andale Mono" panose="020B0509000000000004" pitchFamily="49" charset="0"/>
              </a:rPr>
              <a:t>Better retains 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ndale Mono" panose="020B0509000000000004" pitchFamily="49" charset="0"/>
              </a:rPr>
              <a:t>high-frequency artifacts</a:t>
            </a:r>
            <a:endParaRPr lang="en-US" sz="2000" dirty="0">
              <a:solidFill>
                <a:schemeClr val="bg1">
                  <a:lumMod val="85000"/>
                </a:schemeClr>
              </a:solidFill>
              <a:latin typeface="Andale Mono" panose="020B0509000000000004" pitchFamily="49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Andale Mono" panose="020B0509000000000004" pitchFamily="49" charset="0"/>
              </a:rPr>
              <a:t>Sensitive to 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ndale Mono" panose="020B0509000000000004" pitchFamily="49" charset="0"/>
              </a:rPr>
              <a:t>vocoder/TTS artifacts</a:t>
            </a:r>
            <a:endParaRPr lang="en-US" sz="2000" dirty="0">
              <a:solidFill>
                <a:schemeClr val="bg1">
                  <a:lumMod val="85000"/>
                </a:schemeClr>
              </a:solidFill>
              <a:latin typeface="Andale Mono" panose="020B0509000000000004" pitchFamily="49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Andale Mono" panose="020B0509000000000004" pitchFamily="49" charset="0"/>
              </a:rPr>
              <a:t>Proven in 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ndale Mono" panose="020B0509000000000004" pitchFamily="49" charset="0"/>
              </a:rPr>
              <a:t>anti-spoofing research</a:t>
            </a:r>
            <a:endParaRPr lang="en-US" sz="2000" dirty="0">
              <a:solidFill>
                <a:schemeClr val="bg1">
                  <a:lumMod val="85000"/>
                </a:schemeClr>
              </a:solidFill>
              <a:latin typeface="Andale Mono" panose="020B0509000000000004" pitchFamily="49" charset="0"/>
            </a:endParaRPr>
          </a:p>
          <a:p>
            <a:pPr algn="l"/>
            <a:endParaRPr lang="en-US" sz="2000" b="0" i="0" u="none" strike="noStrike" dirty="0">
              <a:solidFill>
                <a:schemeClr val="bg1">
                  <a:lumMod val="85000"/>
                </a:schemeClr>
              </a:solidFill>
              <a:effectLst/>
              <a:latin typeface="Andale Mono" panose="020B050900000000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95DB6B-CC8F-F275-1A68-61BAB9DC5710}"/>
              </a:ext>
            </a:extLst>
          </p:cNvPr>
          <p:cNvSpPr txBox="1"/>
          <p:nvPr/>
        </p:nvSpPr>
        <p:spPr>
          <a:xfrm>
            <a:off x="2784390" y="1940056"/>
            <a:ext cx="8213124" cy="1323439"/>
          </a:xfrm>
          <a:prstGeom prst="rect">
            <a:avLst/>
          </a:prstGeom>
          <a:noFill/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000" b="0" i="0" u="none" strike="noStrike" dirty="0">
                <a:solidFill>
                  <a:schemeClr val="bg1">
                    <a:lumMod val="85000"/>
                  </a:schemeClr>
                </a:solidFill>
                <a:effectLst/>
                <a:latin typeface="Andale Mono" panose="020B0509000000000004" pitchFamily="49" charset="0"/>
              </a:rPr>
              <a:t>Linear Frequency Cepstral Coefficients (LFCC) has been widely validated in the ASVspoof community as a more effective feature for detecting synthetic artifacts due to its higher spectral resolution.</a:t>
            </a:r>
          </a:p>
        </p:txBody>
      </p:sp>
    </p:spTree>
    <p:extLst>
      <p:ext uri="{BB962C8B-B14F-4D97-AF65-F5344CB8AC3E}">
        <p14:creationId xmlns:p14="http://schemas.microsoft.com/office/powerpoint/2010/main" val="3063278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6EBEF-27EF-FFAC-C134-54FD2F5BE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367A557-A150-A62D-E777-2D0EF1313CA6}"/>
              </a:ext>
            </a:extLst>
          </p:cNvPr>
          <p:cNvSpPr txBox="1"/>
          <p:nvPr/>
        </p:nvSpPr>
        <p:spPr>
          <a:xfrm>
            <a:off x="2419857" y="371713"/>
            <a:ext cx="62545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400" b="1" i="0" u="none" strike="noStrike" dirty="0"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Andale Mono" panose="020B0509000000000004" pitchFamily="49" charset="0"/>
              </a:rPr>
              <a:t>Preprocessing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8D87CE-38F9-A673-092B-AF7618EE0F51}"/>
              </a:ext>
            </a:extLst>
          </p:cNvPr>
          <p:cNvSpPr txBox="1"/>
          <p:nvPr/>
        </p:nvSpPr>
        <p:spPr>
          <a:xfrm>
            <a:off x="2419858" y="1790718"/>
            <a:ext cx="6371967" cy="523220"/>
          </a:xfrm>
          <a:prstGeom prst="rect">
            <a:avLst/>
          </a:prstGeom>
          <a:noFill/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800" b="0" i="0" u="none" strike="noStrike" dirty="0">
                <a:solidFill>
                  <a:schemeClr val="bg1">
                    <a:lumMod val="85000"/>
                  </a:schemeClr>
                </a:solidFill>
                <a:effectLst/>
                <a:latin typeface="Andale Mono" panose="020B0509000000000004" pitchFamily="49" charset="0"/>
              </a:rPr>
              <a:t>LFCC Extraction Parameters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Andale Mono" panose="020B0509000000000004" pitchFamily="49" charset="0"/>
              </a:rPr>
              <a:t>:</a:t>
            </a:r>
            <a:endParaRPr lang="en-US" sz="2800" b="0" i="0" u="none" strike="noStrike" dirty="0">
              <a:solidFill>
                <a:schemeClr val="bg1">
                  <a:lumMod val="85000"/>
                </a:schemeClr>
              </a:solidFill>
              <a:effectLst/>
              <a:latin typeface="Andale Mono" panose="020B050900000000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60BF07-F460-F5F6-7721-AA21D6150A3B}"/>
              </a:ext>
            </a:extLst>
          </p:cNvPr>
          <p:cNvSpPr txBox="1"/>
          <p:nvPr/>
        </p:nvSpPr>
        <p:spPr>
          <a:xfrm>
            <a:off x="2506355" y="2901946"/>
            <a:ext cx="5824156" cy="2344809"/>
          </a:xfrm>
          <a:prstGeom prst="rect">
            <a:avLst/>
          </a:prstGeom>
          <a:solidFill>
            <a:schemeClr val="tx1">
              <a:alpha val="70081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i="0" u="none" strike="noStrike" dirty="0">
                <a:solidFill>
                  <a:schemeClr val="bg1">
                    <a:lumMod val="85000"/>
                  </a:schemeClr>
                </a:solidFill>
                <a:effectLst/>
                <a:latin typeface="Andale Mono" panose="020B0509000000000004" pitchFamily="49" charset="0"/>
              </a:rPr>
              <a:t>Sample Rate (SR) = 16000</a:t>
            </a:r>
          </a:p>
          <a:p>
            <a:pPr>
              <a:lnSpc>
                <a:spcPct val="150000"/>
              </a:lnSpc>
            </a:pPr>
            <a:r>
              <a:rPr lang="en-US" sz="2000" b="1" i="0" u="none" strike="noStrike" dirty="0">
                <a:solidFill>
                  <a:schemeClr val="bg1">
                    <a:lumMod val="85000"/>
                  </a:schemeClr>
                </a:solidFill>
                <a:effectLst/>
                <a:latin typeface="Andale Mono" panose="020B0509000000000004" pitchFamily="49" charset="0"/>
              </a:rPr>
              <a:t>Number of Coefficients (N_LFCC) = 60</a:t>
            </a:r>
            <a:endParaRPr lang="en-US" sz="2000" b="0" i="0" u="none" strike="noStrike" dirty="0">
              <a:solidFill>
                <a:schemeClr val="bg1">
                  <a:lumMod val="85000"/>
                </a:schemeClr>
              </a:solidFill>
              <a:effectLst/>
              <a:latin typeface="Andale Mono" panose="020B050900000000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ndale Mono" panose="020B0509000000000004" pitchFamily="49" charset="0"/>
              </a:rPr>
              <a:t>FFT Size (N_FFT) = 512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ndale Mono" panose="020B0509000000000004" pitchFamily="49" charset="0"/>
              </a:rPr>
              <a:t>Window Length = 25 </a:t>
            </a:r>
            <a:r>
              <a:rPr lang="en-US" sz="2000" b="1" dirty="0" err="1">
                <a:solidFill>
                  <a:schemeClr val="bg1">
                    <a:lumMod val="85000"/>
                  </a:schemeClr>
                </a:solidFill>
                <a:latin typeface="Andale Mono" panose="020B0509000000000004" pitchFamily="49" charset="0"/>
              </a:rPr>
              <a:t>ms</a:t>
            </a:r>
            <a:endParaRPr lang="en-US" sz="2000" dirty="0">
              <a:solidFill>
                <a:schemeClr val="bg1">
                  <a:lumMod val="85000"/>
                </a:schemeClr>
              </a:solidFill>
              <a:latin typeface="Andale Mono" panose="020B0509000000000004" pitchFamily="49" charset="0"/>
            </a:endParaRP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ndale Mono" panose="020B0509000000000004" pitchFamily="49" charset="0"/>
              </a:rPr>
              <a:t>Hop Length = 10 </a:t>
            </a:r>
            <a:r>
              <a:rPr lang="en-US" sz="2000" b="1" dirty="0" err="1">
                <a:solidFill>
                  <a:schemeClr val="bg1">
                    <a:lumMod val="85000"/>
                  </a:schemeClr>
                </a:solidFill>
                <a:latin typeface="Andale Mono" panose="020B0509000000000004" pitchFamily="49" charset="0"/>
              </a:rPr>
              <a:t>ms</a:t>
            </a:r>
            <a:endParaRPr lang="en-US" sz="2000" b="0" i="0" u="none" strike="noStrike" dirty="0">
              <a:solidFill>
                <a:schemeClr val="bg1">
                  <a:lumMod val="85000"/>
                </a:schemeClr>
              </a:solidFill>
              <a:effectLst/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758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8D8DD6-B686-5925-D450-6503BBAFC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F8B2887-1782-DD8D-BB86-CE626B4328A6}"/>
              </a:ext>
            </a:extLst>
          </p:cNvPr>
          <p:cNvSpPr txBox="1"/>
          <p:nvPr/>
        </p:nvSpPr>
        <p:spPr>
          <a:xfrm>
            <a:off x="2888026" y="96242"/>
            <a:ext cx="4142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400" b="1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ndale Mono" panose="020B0509000000000004" pitchFamily="49" charset="0"/>
              </a:rPr>
              <a:t>Modeling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386EEE-5669-3DDC-D27D-E2AD309EAEA7}"/>
              </a:ext>
            </a:extLst>
          </p:cNvPr>
          <p:cNvSpPr txBox="1"/>
          <p:nvPr/>
        </p:nvSpPr>
        <p:spPr>
          <a:xfrm>
            <a:off x="1948911" y="1239178"/>
            <a:ext cx="6676105" cy="52322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800" b="1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Andale Mono" panose="020B0509000000000004" pitchFamily="49" charset="0"/>
              </a:rPr>
              <a:t>Baseline LFCC-CNN Classifier</a:t>
            </a:r>
            <a:endParaRPr lang="en-US" sz="2800" b="0" i="0" u="none" strike="noStrike" dirty="0">
              <a:solidFill>
                <a:schemeClr val="bg1">
                  <a:lumMod val="95000"/>
                </a:schemeClr>
              </a:solidFill>
              <a:effectLst/>
              <a:latin typeface="Andale Mono" panose="020B0509000000000004" pitchFamily="49" charset="0"/>
            </a:endParaRPr>
          </a:p>
        </p:txBody>
      </p:sp>
      <p:pic>
        <p:nvPicPr>
          <p:cNvPr id="27" name="Picture 26" descr="A screenshot of a computer&#10;&#10;Description automatically generated">
            <a:extLst>
              <a:ext uri="{FF2B5EF4-FFF2-40B4-BE49-F238E27FC236}">
                <a16:creationId xmlns:a16="http://schemas.microsoft.com/office/drawing/2014/main" id="{7ABF2D67-E4DB-B529-55A4-85620C836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315" y="1982004"/>
            <a:ext cx="3459910" cy="45388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6D573B89-7D37-2F0D-B089-39446AF76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669879"/>
              </p:ext>
            </p:extLst>
          </p:nvPr>
        </p:nvGraphicFramePr>
        <p:xfrm>
          <a:off x="1572696" y="1982004"/>
          <a:ext cx="6360342" cy="4538817"/>
        </p:xfrm>
        <a:graphic>
          <a:graphicData uri="http://schemas.openxmlformats.org/drawingml/2006/table">
            <a:tbl>
              <a:tblPr firstRow="1" firstCol="1" bandRow="1">
                <a:effectLst/>
                <a:tableStyleId>{1E171933-4619-4E11-9A3F-F7608DF75F80}</a:tableStyleId>
              </a:tblPr>
              <a:tblGrid>
                <a:gridCol w="2774246">
                  <a:extLst>
                    <a:ext uri="{9D8B030D-6E8A-4147-A177-3AD203B41FA5}">
                      <a16:colId xmlns:a16="http://schemas.microsoft.com/office/drawing/2014/main" val="2671198635"/>
                    </a:ext>
                  </a:extLst>
                </a:gridCol>
                <a:gridCol w="3586096">
                  <a:extLst>
                    <a:ext uri="{9D8B030D-6E8A-4147-A177-3AD203B41FA5}">
                      <a16:colId xmlns:a16="http://schemas.microsoft.com/office/drawing/2014/main" val="2399248140"/>
                    </a:ext>
                  </a:extLst>
                </a:gridCol>
              </a:tblGrid>
              <a:tr h="4637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Component         </a:t>
                      </a:r>
                      <a:endParaRPr lang="en-US" sz="1800" kern="10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 Description                                 </a:t>
                      </a:r>
                      <a:endParaRPr lang="en-US" sz="1800" kern="10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972119"/>
                  </a:ext>
                </a:extLst>
              </a:tr>
              <a:tr h="5349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 Input         </a:t>
                      </a:r>
                      <a:endParaRPr lang="en-US" sz="1600" kern="10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 LFCC features (1 × 60 × T)                       </a:t>
                      </a:r>
                      <a:endParaRPr lang="en-US" sz="1600" kern="10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698042"/>
                  </a:ext>
                </a:extLst>
              </a:tr>
              <a:tr h="4637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Backbone        </a:t>
                      </a:r>
                      <a:endParaRPr lang="en-US" sz="1600" kern="10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 5 × Conv blocks                                  </a:t>
                      </a:r>
                      <a:endParaRPr lang="en-US" sz="1600" kern="10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35487"/>
                  </a:ext>
                </a:extLst>
              </a:tr>
              <a:tr h="4637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 Block Structure     </a:t>
                      </a:r>
                      <a:endParaRPr lang="en-US" sz="1600" kern="10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 Conv2D → </a:t>
                      </a:r>
                      <a:r>
                        <a:rPr lang="en-US" sz="1600" kern="10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BatchNorm</a:t>
                      </a:r>
                      <a:r>
                        <a:rPr lang="en-US" sz="1600" kern="1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 → </a:t>
                      </a:r>
                      <a:r>
                        <a:rPr lang="en-US" sz="1600" kern="10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ReLU</a:t>
                      </a:r>
                      <a:r>
                        <a:rPr lang="en-US" sz="1600" kern="1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                        </a:t>
                      </a:r>
                      <a:endParaRPr lang="en-US" sz="1600" kern="10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574651"/>
                  </a:ext>
                </a:extLst>
              </a:tr>
              <a:tr h="5349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 Downsampling     </a:t>
                      </a:r>
                      <a:endParaRPr lang="en-US" sz="1600" kern="10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 MaxPool applied in Blocks 1–2                    </a:t>
                      </a:r>
                      <a:endParaRPr lang="en-US" sz="1600" kern="10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972158"/>
                  </a:ext>
                </a:extLst>
              </a:tr>
              <a:tr h="5349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 Channel Progression </a:t>
                      </a:r>
                      <a:endParaRPr lang="en-US" sz="1600" kern="10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 1 → 16 → 32 → 64 → 128 → 128                     </a:t>
                      </a:r>
                      <a:endParaRPr lang="en-US" sz="1600" kern="10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521925"/>
                  </a:ext>
                </a:extLst>
              </a:tr>
              <a:tr h="4637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Classifier Head    </a:t>
                      </a:r>
                      <a:endParaRPr lang="en-US" sz="1600" kern="10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 Flatten → FC(256) → FC(1)                        </a:t>
                      </a:r>
                      <a:endParaRPr lang="en-US" sz="1600" kern="10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847766"/>
                  </a:ext>
                </a:extLst>
              </a:tr>
              <a:tr h="5349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Output              </a:t>
                      </a:r>
                      <a:endParaRPr lang="en-US" sz="1600" kern="10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 Spoof probability (sigmoid)                      </a:t>
                      </a:r>
                      <a:endParaRPr lang="en-US" sz="1600" kern="10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69194"/>
                  </a:ext>
                </a:extLst>
              </a:tr>
              <a:tr h="5349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Purpose      </a:t>
                      </a:r>
                      <a:endParaRPr lang="en-US" sz="1600" kern="10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ndale Mono" panose="020B0509000000000004" pitchFamily="49" charset="0"/>
                        </a:rPr>
                        <a:t> Baseline LFCC feature learning for anti-spoofing </a:t>
                      </a:r>
                      <a:endParaRPr lang="en-US" sz="1600" kern="10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ndale Mono" panose="020B0509000000000004" pitchFamily="49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787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14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0F2A87-44CC-E47A-AE1B-8F6A4199A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2297CF4-908C-E876-2DB2-1DF3F08D4F0E}"/>
              </a:ext>
            </a:extLst>
          </p:cNvPr>
          <p:cNvSpPr txBox="1"/>
          <p:nvPr/>
        </p:nvSpPr>
        <p:spPr>
          <a:xfrm rot="5400000">
            <a:off x="-1490709" y="3277772"/>
            <a:ext cx="5715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b="1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ndale Mono" panose="020B0509000000000004" pitchFamily="49" charset="0"/>
              </a:rPr>
              <a:t>Training Setup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148A1A-51D6-BD44-F583-8879C7E648D9}"/>
              </a:ext>
            </a:extLst>
          </p:cNvPr>
          <p:cNvSpPr txBox="1"/>
          <p:nvPr/>
        </p:nvSpPr>
        <p:spPr>
          <a:xfrm>
            <a:off x="3122801" y="423635"/>
            <a:ext cx="7405153" cy="584775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32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Loss, Optimizer &amp; Scheduling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A7D90B-D770-AC18-CE44-859EBB2AE038}"/>
              </a:ext>
            </a:extLst>
          </p:cNvPr>
          <p:cNvSpPr txBox="1"/>
          <p:nvPr/>
        </p:nvSpPr>
        <p:spPr>
          <a:xfrm>
            <a:off x="2523845" y="1399108"/>
            <a:ext cx="8667074" cy="170399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i="0" u="none" strike="noStrike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ndale Mono" panose="020B0509000000000004" pitchFamily="49" charset="0"/>
              </a:rPr>
              <a:t>Loss &amp; Class Imbalance</a:t>
            </a:r>
            <a:endParaRPr lang="en-US" b="0" i="0" u="none" strike="noStrike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1" i="0" u="none" strike="noStrike" dirty="0" err="1">
                <a:solidFill>
                  <a:schemeClr val="bg2"/>
                </a:solidFill>
                <a:effectLst/>
                <a:latin typeface="Andale Mono" panose="020B0509000000000004" pitchFamily="49" charset="0"/>
              </a:rPr>
              <a:t>BCEWithLogitsLoss</a:t>
            </a:r>
            <a:r>
              <a:rPr lang="en-US" b="0" i="0" u="none" strike="noStrike" dirty="0">
                <a:solidFill>
                  <a:schemeClr val="bg2"/>
                </a:solidFill>
                <a:effectLst/>
                <a:latin typeface="Andale Mono" panose="020B0509000000000004" pitchFamily="49" charset="0"/>
              </a:rPr>
              <a:t> with </a:t>
            </a:r>
            <a:r>
              <a:rPr lang="en-US" b="1" i="0" u="none" strike="noStrike" dirty="0" err="1">
                <a:solidFill>
                  <a:schemeClr val="bg2"/>
                </a:solidFill>
                <a:effectLst/>
                <a:latin typeface="Andale Mono" panose="020B0509000000000004" pitchFamily="49" charset="0"/>
              </a:rPr>
              <a:t>pos_weight</a:t>
            </a:r>
            <a:r>
              <a:rPr lang="en-US" b="1" i="0" u="none" strike="noStrike" dirty="0">
                <a:solidFill>
                  <a:schemeClr val="bg2"/>
                </a:solidFill>
                <a:effectLst/>
                <a:latin typeface="Andale Mono" panose="020B0509000000000004" pitchFamily="49" charset="0"/>
              </a:rPr>
              <a:t> ≈ 8.84</a:t>
            </a:r>
            <a:endParaRPr lang="en-US" b="0" i="0" u="none" strike="noStrike" dirty="0">
              <a:solidFill>
                <a:schemeClr val="bg2"/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0" i="0" u="none" strike="noStrike" dirty="0">
                <a:solidFill>
                  <a:schemeClr val="bg2"/>
                </a:solidFill>
                <a:effectLst/>
                <a:latin typeface="Andale Mono" panose="020B0509000000000004" pitchFamily="49" charset="0"/>
              </a:rPr>
              <a:t>Corrects spoof-heavy imbalance in ASVspoof</a:t>
            </a: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0" i="0" u="none" strike="noStrike" dirty="0">
                <a:solidFill>
                  <a:schemeClr val="bg2"/>
                </a:solidFill>
                <a:effectLst/>
                <a:latin typeface="Andale Mono" panose="020B0509000000000004" pitchFamily="49" charset="0"/>
              </a:rPr>
              <a:t>Prevents trivial “always spoof” predictions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133F34-D97E-3D92-BEFE-1C3B628C8B0B}"/>
              </a:ext>
            </a:extLst>
          </p:cNvPr>
          <p:cNvSpPr txBox="1"/>
          <p:nvPr/>
        </p:nvSpPr>
        <p:spPr>
          <a:xfrm>
            <a:off x="2499131" y="3345661"/>
            <a:ext cx="8667075" cy="1288494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i="0" u="none" strike="noStrike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ndale Mono" panose="020B0509000000000004" pitchFamily="49" charset="0"/>
              </a:rPr>
              <a:t>Optimizer</a:t>
            </a:r>
            <a:endParaRPr lang="en-US" b="0" i="0" u="none" strike="noStrike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Adam (</a:t>
            </a:r>
            <a:r>
              <a:rPr lang="en-US" b="1" i="0" u="none" strike="noStrike" dirty="0" err="1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lr</a:t>
            </a:r>
            <a:r>
              <a:rPr lang="en-US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 = 1e-4)</a:t>
            </a:r>
            <a:endParaRPr lang="en-US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Small </a:t>
            </a:r>
            <a:r>
              <a:rPr lang="en-US" b="0" i="0" u="none" strike="noStrike" dirty="0" err="1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lr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 chosen for stability with LFCC + CNN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4AD13A-3850-F479-FA2D-6E048453E1C1}"/>
              </a:ext>
            </a:extLst>
          </p:cNvPr>
          <p:cNvSpPr txBox="1"/>
          <p:nvPr/>
        </p:nvSpPr>
        <p:spPr>
          <a:xfrm>
            <a:off x="2523845" y="4816869"/>
            <a:ext cx="8667076" cy="1703993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i="0" u="none" strike="noStrike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ndale Mono" panose="020B0509000000000004" pitchFamily="49" charset="0"/>
              </a:rPr>
              <a:t>Learning Rate Scheduling</a:t>
            </a:r>
            <a:endParaRPr lang="en-US" b="0" i="0" u="none" strike="noStrike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1" i="0" u="none" strike="noStrike" dirty="0" err="1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ReduceLROnPlateau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 to lower LR when validation stalls</a:t>
            </a: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Helps convergence refinement &amp; reduces overfitting tendencies</a:t>
            </a:r>
          </a:p>
        </p:txBody>
      </p:sp>
    </p:spTree>
    <p:extLst>
      <p:ext uri="{BB962C8B-B14F-4D97-AF65-F5344CB8AC3E}">
        <p14:creationId xmlns:p14="http://schemas.microsoft.com/office/powerpoint/2010/main" val="3235280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971CC2-AC22-6F65-3514-3C79D1DAD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BA711F5-1608-A2AF-CB7E-01184A712647}"/>
              </a:ext>
            </a:extLst>
          </p:cNvPr>
          <p:cNvSpPr txBox="1"/>
          <p:nvPr/>
        </p:nvSpPr>
        <p:spPr>
          <a:xfrm>
            <a:off x="1775914" y="319254"/>
            <a:ext cx="8257772" cy="830997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4800" b="0" i="0" u="none" strike="noStrike" dirty="0">
                <a:solidFill>
                  <a:srgbClr val="FFC000"/>
                </a:solidFill>
                <a:effectLst/>
                <a:latin typeface="Andale Mono" panose="020B0509000000000004" pitchFamily="49" charset="0"/>
              </a:rPr>
              <a:t>Training &amp; Validation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4B6CA0-4B65-ED97-1CB5-6D96B7BE44D8}"/>
              </a:ext>
            </a:extLst>
          </p:cNvPr>
          <p:cNvSpPr txBox="1"/>
          <p:nvPr/>
        </p:nvSpPr>
        <p:spPr>
          <a:xfrm>
            <a:off x="2338489" y="1596820"/>
            <a:ext cx="8667075" cy="147732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i="0" u="none" strike="noStrike" dirty="0">
                <a:solidFill>
                  <a:srgbClr val="FFC000"/>
                </a:solidFill>
                <a:effectLst/>
                <a:latin typeface="Andale Mono" panose="020B0509000000000004" pitchFamily="49" charset="0"/>
              </a:rPr>
              <a:t>Training</a:t>
            </a:r>
            <a:endParaRPr lang="en-US" sz="2000" b="0" i="0" u="none" strike="noStrike" dirty="0">
              <a:solidFill>
                <a:srgbClr val="FFC000"/>
              </a:solidFill>
              <a:effectLst/>
              <a:latin typeface="Andale Mono" panose="020B0509000000000004" pitchFamily="49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  <a:t>Mini-batch gradient descent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  <a:t>Train loss: </a:t>
            </a:r>
            <a:r>
              <a:rPr lang="en-US" sz="2000" b="1" dirty="0">
                <a:solidFill>
                  <a:schemeClr val="bg1"/>
                </a:solidFill>
                <a:latin typeface="Andale Mono" panose="020B0509000000000004" pitchFamily="49" charset="0"/>
              </a:rPr>
              <a:t>0.537 → 0.0005</a:t>
            </a:r>
            <a: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  <a:t> (10 epochs)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  <a:t>Smooth convergence, no underfitting signs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30EE87-4A7A-0CDC-A0E0-8858B47696BF}"/>
              </a:ext>
            </a:extLst>
          </p:cNvPr>
          <p:cNvSpPr txBox="1"/>
          <p:nvPr/>
        </p:nvSpPr>
        <p:spPr>
          <a:xfrm>
            <a:off x="2338490" y="3073816"/>
            <a:ext cx="8667075" cy="1631216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C000"/>
                </a:solidFill>
                <a:latin typeface="Andale Mono" panose="020B0509000000000004" pitchFamily="49" charset="0"/>
              </a:rPr>
              <a:t>Validation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  <a:t>Validation-only forward passes (no gradients)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  <a:t>Val loss: </a:t>
            </a:r>
            <a:r>
              <a:rPr lang="en-US" sz="2000" b="1" dirty="0">
                <a:solidFill>
                  <a:schemeClr val="bg1"/>
                </a:solidFill>
                <a:latin typeface="Andale Mono" panose="020B0509000000000004" pitchFamily="49" charset="0"/>
              </a:rPr>
              <a:t>0.0076</a:t>
            </a:r>
            <a: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  <a:t> (strong in-distribution performance)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  <a:t>Small mid-epoch fluctuations (expected under class imbalance)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20F74-7832-FA47-12FE-7DF0800D2498}"/>
              </a:ext>
            </a:extLst>
          </p:cNvPr>
          <p:cNvSpPr txBox="1"/>
          <p:nvPr/>
        </p:nvSpPr>
        <p:spPr>
          <a:xfrm>
            <a:off x="3265253" y="5051650"/>
            <a:ext cx="8667076" cy="1323439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000" b="1" i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dale Mono" panose="020B0509000000000004" pitchFamily="49" charset="0"/>
              </a:rPr>
              <a:t>Summary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Model learned LFCC patterns quickly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Mild overfitting after plateau, but validation still improved overall</a:t>
            </a:r>
          </a:p>
        </p:txBody>
      </p:sp>
    </p:spTree>
    <p:extLst>
      <p:ext uri="{BB962C8B-B14F-4D97-AF65-F5344CB8AC3E}">
        <p14:creationId xmlns:p14="http://schemas.microsoft.com/office/powerpoint/2010/main" val="3922580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EE45C6-9686-CA92-788D-F743F9B5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487BF56-91C7-DCFD-9AEE-88F00913D995}"/>
              </a:ext>
            </a:extLst>
          </p:cNvPr>
          <p:cNvSpPr txBox="1"/>
          <p:nvPr/>
        </p:nvSpPr>
        <p:spPr>
          <a:xfrm>
            <a:off x="1099760" y="192571"/>
            <a:ext cx="10832569" cy="830997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4800" b="0" i="0" u="none" strike="noStrike" dirty="0">
                <a:solidFill>
                  <a:srgbClr val="FF9300"/>
                </a:solidFill>
                <a:effectLst/>
                <a:latin typeface="Andale Mono" panose="020B0509000000000004" pitchFamily="49" charset="0"/>
              </a:rPr>
              <a:t>Development Split 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DD6CBE-880C-359E-84C0-7B1E37A9CA7A}"/>
              </a:ext>
            </a:extLst>
          </p:cNvPr>
          <p:cNvSpPr txBox="1"/>
          <p:nvPr/>
        </p:nvSpPr>
        <p:spPr>
          <a:xfrm>
            <a:off x="2773404" y="4227877"/>
            <a:ext cx="8667076" cy="1938992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000" b="1" i="0" u="none" strike="noStrike" dirty="0">
                <a:solidFill>
                  <a:srgbClr val="FF9300"/>
                </a:solidFill>
                <a:effectLst/>
                <a:latin typeface="Andale Mono" panose="020B0509000000000004" pitchFamily="49" charset="0"/>
              </a:rPr>
              <a:t>Interpretation</a:t>
            </a:r>
            <a:endParaRPr lang="en-US" sz="2000" b="0" i="0" u="none" strike="noStrike" dirty="0">
              <a:solidFill>
                <a:srgbClr val="FF9300"/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Near-perfect discrimination in-distribution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Model effectively learns LFCC spoof vs bona-fide patterns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Performance reflects exposure to similar spoofing attacks during training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C353A6-678B-3C9A-1D93-3A84E0BFD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799971"/>
              </p:ext>
            </p:extLst>
          </p:nvPr>
        </p:nvGraphicFramePr>
        <p:xfrm>
          <a:off x="2773404" y="1660627"/>
          <a:ext cx="7519774" cy="187475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759887">
                  <a:extLst>
                    <a:ext uri="{9D8B030D-6E8A-4147-A177-3AD203B41FA5}">
                      <a16:colId xmlns:a16="http://schemas.microsoft.com/office/drawing/2014/main" val="2221941566"/>
                    </a:ext>
                  </a:extLst>
                </a:gridCol>
                <a:gridCol w="3759887">
                  <a:extLst>
                    <a:ext uri="{9D8B030D-6E8A-4147-A177-3AD203B41FA5}">
                      <a16:colId xmlns:a16="http://schemas.microsoft.com/office/drawing/2014/main" val="2308385208"/>
                    </a:ext>
                  </a:extLst>
                </a:gridCol>
              </a:tblGrid>
              <a:tr h="46868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dirty="0">
                        <a:solidFill>
                          <a:schemeClr val="bg1"/>
                        </a:solidFill>
                        <a:latin typeface="Andale Mono" panose="020B050900000000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dirty="0">
                        <a:solidFill>
                          <a:schemeClr val="bg1"/>
                        </a:solidFill>
                        <a:latin typeface="Andale Mono" panose="020B050900000000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322732"/>
                  </a:ext>
                </a:extLst>
              </a:tr>
              <a:tr h="46868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AUC</a:t>
                      </a:r>
                      <a:endParaRPr lang="en-US" dirty="0">
                        <a:solidFill>
                          <a:schemeClr val="bg1"/>
                        </a:solidFill>
                        <a:latin typeface="Andale Mono" panose="020B050900000000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~ 1</a:t>
                      </a:r>
                      <a:endParaRPr lang="en-US" dirty="0">
                        <a:solidFill>
                          <a:schemeClr val="bg1"/>
                        </a:solidFill>
                        <a:latin typeface="Andale Mono" panose="020B050900000000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7331"/>
                  </a:ext>
                </a:extLst>
              </a:tr>
              <a:tr h="46868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EER</a:t>
                      </a:r>
                      <a:endParaRPr lang="en-US" dirty="0">
                        <a:solidFill>
                          <a:schemeClr val="bg1"/>
                        </a:solidFill>
                        <a:latin typeface="Andale Mono" panose="020B050900000000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&lt; 0.3%</a:t>
                      </a:r>
                      <a:endParaRPr lang="en-US" dirty="0">
                        <a:solidFill>
                          <a:schemeClr val="bg1"/>
                        </a:solidFill>
                        <a:latin typeface="Andale Mono" panose="020B050900000000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372755"/>
                  </a:ext>
                </a:extLst>
              </a:tr>
              <a:tr h="46868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ACCURACY</a:t>
                      </a:r>
                      <a:endParaRPr lang="en-US" dirty="0">
                        <a:solidFill>
                          <a:schemeClr val="bg1"/>
                        </a:solidFill>
                        <a:latin typeface="Andale Mono" panose="020B050900000000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&gt; 99.8%</a:t>
                      </a:r>
                      <a:endParaRPr lang="en-US" dirty="0">
                        <a:solidFill>
                          <a:schemeClr val="bg1"/>
                        </a:solidFill>
                        <a:latin typeface="Andale Mono" panose="020B050900000000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900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3498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CAACF9-D413-C1C2-04B3-C5F91587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6F57144-1582-4B5E-0AB4-2C2A3757F475}"/>
              </a:ext>
            </a:extLst>
          </p:cNvPr>
          <p:cNvSpPr txBox="1"/>
          <p:nvPr/>
        </p:nvSpPr>
        <p:spPr>
          <a:xfrm>
            <a:off x="1099760" y="192571"/>
            <a:ext cx="10832569" cy="1323439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4000" b="0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Zero-Shot Evaluation on ASVspoof</a:t>
            </a:r>
            <a:r>
              <a:rPr lang="en-US" sz="4000" b="0" i="0" u="none" strike="noStrike" dirty="0">
                <a:solidFill>
                  <a:schemeClr val="bg2"/>
                </a:solidFill>
                <a:effectLst/>
                <a:latin typeface="Andale Mono" panose="020B0509000000000004" pitchFamily="49" charset="0"/>
              </a:rPr>
              <a:t> </a:t>
            </a:r>
          </a:p>
          <a:p>
            <a:pPr algn="ctr"/>
            <a:r>
              <a:rPr lang="en-US" sz="4000" b="0" i="0" u="none" strike="noStrike" dirty="0">
                <a:solidFill>
                  <a:schemeClr val="bg2"/>
                </a:solidFill>
                <a:effectLst/>
                <a:latin typeface="Andale Mono" panose="020B0509000000000004" pitchFamily="49" charset="0"/>
              </a:rPr>
              <a:t>Unlabeled Eval Split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FD0CA-B143-F9CF-EDF2-A57B71CD819C}"/>
              </a:ext>
            </a:extLst>
          </p:cNvPr>
          <p:cNvSpPr txBox="1"/>
          <p:nvPr/>
        </p:nvSpPr>
        <p:spPr>
          <a:xfrm>
            <a:off x="1677690" y="2116488"/>
            <a:ext cx="4896108" cy="3268139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7E79"/>
              </a:buClr>
              <a:buFont typeface="Wingdings" pitchFamily="2" charset="2"/>
              <a:buChar char="§"/>
            </a:pPr>
            <a:r>
              <a:rPr lang="en-US" sz="2000" dirty="0">
                <a:solidFill>
                  <a:schemeClr val="bg2"/>
                </a:solidFill>
                <a:latin typeface="Andale Mono" panose="020B0509000000000004" pitchFamily="49" charset="0"/>
              </a:rPr>
              <a:t>Applied to unseen spoof attacks</a:t>
            </a:r>
          </a:p>
          <a:p>
            <a:pPr marL="342900" indent="-342900">
              <a:lnSpc>
                <a:spcPct val="150000"/>
              </a:lnSpc>
              <a:buClr>
                <a:srgbClr val="FF7E79"/>
              </a:buClr>
              <a:buFont typeface="Wingdings" pitchFamily="2" charset="2"/>
              <a:buChar char="§"/>
            </a:pPr>
            <a:r>
              <a:rPr lang="en-US" sz="2000" dirty="0">
                <a:solidFill>
                  <a:schemeClr val="bg2"/>
                </a:solidFill>
                <a:latin typeface="Andale Mono" panose="020B0509000000000004" pitchFamily="49" charset="0"/>
              </a:rPr>
              <a:t>Bimodal spoof score distribution</a:t>
            </a:r>
          </a:p>
          <a:p>
            <a:pPr marL="342900" indent="-342900">
              <a:lnSpc>
                <a:spcPct val="150000"/>
              </a:lnSpc>
              <a:buClr>
                <a:srgbClr val="FF7E79"/>
              </a:buClr>
              <a:buFont typeface="Wingdings" pitchFamily="2" charset="2"/>
              <a:buChar char="§"/>
            </a:pPr>
            <a:r>
              <a:rPr lang="en-US" sz="2000" dirty="0">
                <a:solidFill>
                  <a:schemeClr val="bg2"/>
                </a:solidFill>
                <a:latin typeface="Andale Mono" panose="020B0509000000000004" pitchFamily="49" charset="0"/>
              </a:rPr>
              <a:t>Predicted spoof ≈ </a:t>
            </a:r>
            <a:r>
              <a:rPr lang="en-US" sz="2000" b="1" dirty="0">
                <a:solidFill>
                  <a:schemeClr val="bg2"/>
                </a:solidFill>
                <a:latin typeface="Andale Mono" panose="020B0509000000000004" pitchFamily="49" charset="0"/>
              </a:rPr>
              <a:t>72%</a:t>
            </a:r>
            <a:endParaRPr lang="en-US" sz="2000" dirty="0">
              <a:solidFill>
                <a:schemeClr val="bg2"/>
              </a:solidFill>
              <a:latin typeface="Andale Mono" panose="020B0509000000000004" pitchFamily="49" charset="0"/>
            </a:endParaRPr>
          </a:p>
          <a:p>
            <a:pPr marL="342900" indent="-342900">
              <a:lnSpc>
                <a:spcPct val="150000"/>
              </a:lnSpc>
              <a:buClr>
                <a:srgbClr val="FF7E79"/>
              </a:buClr>
              <a:buFont typeface="Wingdings" pitchFamily="2" charset="2"/>
              <a:buChar char="§"/>
            </a:pPr>
            <a:r>
              <a:rPr lang="en-US" sz="2000" dirty="0">
                <a:solidFill>
                  <a:schemeClr val="bg2"/>
                </a:solidFill>
                <a:latin typeface="Andale Mono" panose="020B0509000000000004" pitchFamily="49" charset="0"/>
              </a:rPr>
              <a:t>Boundary preserved → </a:t>
            </a:r>
            <a:r>
              <a:rPr lang="en-US" sz="2000" b="1" dirty="0">
                <a:solidFill>
                  <a:schemeClr val="bg2"/>
                </a:solidFill>
                <a:latin typeface="Andale Mono" panose="020B0509000000000004" pitchFamily="49" charset="0"/>
              </a:rPr>
              <a:t>no collapse</a:t>
            </a:r>
            <a:endParaRPr lang="en-US" sz="2000" dirty="0">
              <a:solidFill>
                <a:schemeClr val="bg2"/>
              </a:solidFill>
              <a:latin typeface="Andale Mono" panose="020B050900000000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EE48D7-4573-028C-558D-3605C1ECF516}"/>
              </a:ext>
            </a:extLst>
          </p:cNvPr>
          <p:cNvSpPr txBox="1"/>
          <p:nvPr/>
        </p:nvSpPr>
        <p:spPr>
          <a:xfrm>
            <a:off x="1677690" y="5730045"/>
            <a:ext cx="10020040" cy="707886"/>
          </a:xfrm>
          <a:prstGeom prst="rect">
            <a:avLst/>
          </a:prstGeom>
          <a:solidFill>
            <a:schemeClr val="tx1">
              <a:alpha val="74577"/>
            </a:schemeClr>
          </a:solidFill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000" b="0" i="0" u="none" strike="noStrike" dirty="0">
                <a:solidFill>
                  <a:schemeClr val="bg2"/>
                </a:solidFill>
                <a:effectLst/>
                <a:latin typeface="Andale Mono" panose="020B0509000000000004" pitchFamily="49" charset="0"/>
              </a:rPr>
              <a:t>Model shows </a:t>
            </a:r>
            <a:r>
              <a:rPr lang="en-US" sz="2000" b="1" i="0" u="none" strike="noStrike" dirty="0">
                <a:solidFill>
                  <a:schemeClr val="bg2"/>
                </a:solidFill>
                <a:effectLst/>
                <a:latin typeface="Andale Mono" panose="020B0509000000000004" pitchFamily="49" charset="0"/>
              </a:rPr>
              <a:t>zero-shot generalization</a:t>
            </a:r>
            <a:r>
              <a:rPr lang="en-US" sz="2000" b="0" i="0" u="none" strike="noStrike" dirty="0">
                <a:solidFill>
                  <a:schemeClr val="bg2"/>
                </a:solidFill>
                <a:effectLst/>
                <a:latin typeface="Andale Mono" panose="020B0509000000000004" pitchFamily="49" charset="0"/>
              </a:rPr>
              <a:t> on new attack types without collapsing to trivial predictions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400CE422-2F22-17B2-1BEA-7F0CEF3D7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561" y="2116488"/>
            <a:ext cx="4399007" cy="326813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548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B9AF8D-930F-A04B-E452-236BE42C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C7FA334-B94A-1DD2-3EC0-B174BAB32426}"/>
              </a:ext>
            </a:extLst>
          </p:cNvPr>
          <p:cNvSpPr txBox="1"/>
          <p:nvPr/>
        </p:nvSpPr>
        <p:spPr>
          <a:xfrm>
            <a:off x="1099760" y="192571"/>
            <a:ext cx="8662077" cy="76944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4400" b="0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Comparison – Dev Vs Eval</a:t>
            </a:r>
            <a:endParaRPr lang="en-US" sz="4400" b="0" i="0" u="none" strike="noStrike" dirty="0">
              <a:solidFill>
                <a:schemeClr val="bg2"/>
              </a:solidFill>
              <a:effectLst/>
              <a:latin typeface="Andale Mono" panose="020B050900000000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6A6BF1-6D6C-AE1F-A92F-8934EF62C5E9}"/>
              </a:ext>
            </a:extLst>
          </p:cNvPr>
          <p:cNvSpPr txBox="1"/>
          <p:nvPr/>
        </p:nvSpPr>
        <p:spPr>
          <a:xfrm>
            <a:off x="763297" y="1439480"/>
            <a:ext cx="4896108" cy="1421479"/>
          </a:xfrm>
          <a:prstGeom prst="rect">
            <a:avLst/>
          </a:prstGeom>
          <a:noFill/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Predicted Spoof (p &gt; 0.5)</a:t>
            </a:r>
            <a:endParaRPr lang="en-US" sz="2000" b="0" i="0" u="none" strike="noStrike" dirty="0">
              <a:solidFill>
                <a:srgbClr val="FF7E79"/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Clr>
                <a:srgbClr val="FF7E79"/>
              </a:buClr>
              <a:buFont typeface="Wingdings" pitchFamily="2" charset="2"/>
              <a:buChar char="§"/>
            </a:pP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Dev: ~90%</a:t>
            </a:r>
          </a:p>
          <a:p>
            <a:pPr marL="342900" indent="-342900" algn="l">
              <a:lnSpc>
                <a:spcPct val="150000"/>
              </a:lnSpc>
              <a:buClr>
                <a:srgbClr val="FF7E79"/>
              </a:buClr>
              <a:buFont typeface="Wingdings" pitchFamily="2" charset="2"/>
              <a:buChar char="§"/>
            </a:pP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Eval: ~72%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5092A9-FAC0-EFB7-F5BD-E110848974AF}"/>
              </a:ext>
            </a:extLst>
          </p:cNvPr>
          <p:cNvSpPr txBox="1"/>
          <p:nvPr/>
        </p:nvSpPr>
        <p:spPr>
          <a:xfrm>
            <a:off x="763297" y="2936277"/>
            <a:ext cx="5575726" cy="2344809"/>
          </a:xfrm>
          <a:prstGeom prst="rect">
            <a:avLst/>
          </a:prstGeom>
          <a:noFill/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Score Behavior</a:t>
            </a:r>
            <a:endParaRPr lang="en-US" sz="2000" b="0" i="0" u="none" strike="noStrike" dirty="0">
              <a:solidFill>
                <a:srgbClr val="FF7E79"/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Clr>
                <a:srgbClr val="FF7E79"/>
              </a:buClr>
              <a:buFont typeface="Wingdings" pitchFamily="2" charset="2"/>
              <a:buChar char="§"/>
            </a:pP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Both splits show bimodal distributions</a:t>
            </a:r>
            <a:endParaRPr lang="en-US" sz="20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Clr>
                <a:srgbClr val="FF7E79"/>
              </a:buClr>
              <a:buFont typeface="Wingdings" pitchFamily="2" charset="2"/>
              <a:buChar char="§"/>
            </a:pP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Eval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 distribution shifts slightly toward </a:t>
            </a:r>
            <a:r>
              <a:rPr lang="en-US" sz="2000" b="1" i="0" u="none" strike="noStrike" dirty="0" err="1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bonafide</a:t>
            </a: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 region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A8F23A15-01CF-34DC-E9BB-533BA9B5E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597" y="1414766"/>
            <a:ext cx="5349200" cy="38663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25A2AF-8336-425D-05BF-BE2BABC633C9}"/>
              </a:ext>
            </a:extLst>
          </p:cNvPr>
          <p:cNvSpPr txBox="1"/>
          <p:nvPr/>
        </p:nvSpPr>
        <p:spPr>
          <a:xfrm>
            <a:off x="1977082" y="5881250"/>
            <a:ext cx="9662984" cy="646331"/>
          </a:xfrm>
          <a:prstGeom prst="rect">
            <a:avLst/>
          </a:prstGeom>
          <a:solidFill>
            <a:schemeClr val="tx1">
              <a:alpha val="94000"/>
            </a:schemeClr>
          </a:solidFill>
        </p:spPr>
        <p:txBody>
          <a:bodyPr wrap="square">
            <a:spAutoFit/>
          </a:bodyPr>
          <a:lstStyle/>
          <a:p>
            <a:r>
              <a:rPr lang="en-US" b="1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Unseen attacks are harder to classify but decision boundary remains intact</a:t>
            </a:r>
            <a:endParaRPr lang="en-US" b="1" dirty="0">
              <a:solidFill>
                <a:srgbClr val="FF7E79"/>
              </a:solidFill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516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938EC-B73F-C723-1857-9516E4125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6BAB4A5-7A69-64A0-4393-EE40817DBEFA}"/>
              </a:ext>
            </a:extLst>
          </p:cNvPr>
          <p:cNvSpPr txBox="1"/>
          <p:nvPr/>
        </p:nvSpPr>
        <p:spPr>
          <a:xfrm>
            <a:off x="310203" y="279283"/>
            <a:ext cx="11571594" cy="707886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4000" b="0" i="0" u="none" strike="noStrike" dirty="0">
                <a:solidFill>
                  <a:srgbClr val="73FEFF"/>
                </a:solidFill>
                <a:effectLst/>
                <a:latin typeface="Andale Mono" panose="020B0509000000000004" pitchFamily="49" charset="0"/>
              </a:rPr>
              <a:t>Out-of-Domain Real Speech Evaluation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C06B79-19F9-6FA4-864C-E9602590B4EA}"/>
              </a:ext>
            </a:extLst>
          </p:cNvPr>
          <p:cNvSpPr txBox="1"/>
          <p:nvPr/>
        </p:nvSpPr>
        <p:spPr>
          <a:xfrm>
            <a:off x="1096928" y="2298000"/>
            <a:ext cx="7948217" cy="707886"/>
          </a:xfrm>
          <a:prstGeom prst="rect">
            <a:avLst/>
          </a:prstGeom>
          <a:noFill/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73FEFF"/>
              </a:buClr>
              <a:buFont typeface="Wingdings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  <a:t>500 real speech clips</a:t>
            </a:r>
          </a:p>
          <a:p>
            <a:pPr marL="342900" indent="-342900">
              <a:buClr>
                <a:srgbClr val="73FEFF"/>
              </a:buClr>
              <a:buFont typeface="Wingdings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  <a:t>No spoof attacks (all bona fide)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ECF52-4A19-9449-0D5E-625AE94ADCA0}"/>
              </a:ext>
            </a:extLst>
          </p:cNvPr>
          <p:cNvSpPr txBox="1"/>
          <p:nvPr/>
        </p:nvSpPr>
        <p:spPr>
          <a:xfrm>
            <a:off x="1096928" y="3185537"/>
            <a:ext cx="5242088" cy="2190921"/>
          </a:xfrm>
          <a:prstGeom prst="rect">
            <a:avLst/>
          </a:prstGeom>
          <a:noFill/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000" b="1" i="0" u="none" strike="noStrike" dirty="0">
                <a:solidFill>
                  <a:srgbClr val="73FEFF"/>
                </a:solidFill>
                <a:effectLst/>
                <a:latin typeface="Andale Mono" panose="020B0509000000000004" pitchFamily="49" charset="0"/>
              </a:rPr>
              <a:t>Results</a:t>
            </a:r>
            <a:endParaRPr lang="en-US" sz="2000" b="0" i="0" u="none" strike="noStrike" dirty="0">
              <a:solidFill>
                <a:srgbClr val="73FEFF"/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Clr>
                <a:srgbClr val="73FEFF"/>
              </a:buClr>
              <a:buFont typeface="Wingdings" pitchFamily="2" charset="2"/>
              <a:buChar char="§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False positives: </a:t>
            </a: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298 / 500</a:t>
            </a:r>
            <a:endParaRPr lang="en-US" sz="20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Clr>
                <a:srgbClr val="73FEFF"/>
              </a:buClr>
              <a:buFont typeface="Wingdings" pitchFamily="2" charset="2"/>
              <a:buChar char="§"/>
            </a:pP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FPR: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 </a:t>
            </a: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59.6%</a:t>
            </a:r>
            <a:endParaRPr lang="en-US" sz="20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Clr>
                <a:srgbClr val="73FEFF"/>
              </a:buClr>
              <a:buFont typeface="Wingdings" pitchFamily="2" charset="2"/>
              <a:buChar char="§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Spoof probability distribution biased toward spoof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25385-E641-BA4A-29ED-BAA00A0F2F4E}"/>
              </a:ext>
            </a:extLst>
          </p:cNvPr>
          <p:cNvSpPr txBox="1"/>
          <p:nvPr/>
        </p:nvSpPr>
        <p:spPr>
          <a:xfrm>
            <a:off x="1747270" y="5784102"/>
            <a:ext cx="9662984" cy="646331"/>
          </a:xfrm>
          <a:prstGeom prst="rect">
            <a:avLst/>
          </a:prstGeom>
          <a:solidFill>
            <a:schemeClr val="tx1">
              <a:alpha val="94000"/>
            </a:schemeClr>
          </a:solidFill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73FEFF"/>
                </a:solidFill>
                <a:effectLst/>
                <a:latin typeface="Andale Mono" panose="020B0509000000000004" pitchFamily="49" charset="0"/>
              </a:rPr>
              <a:t>Model fails to recognize </a:t>
            </a:r>
            <a:r>
              <a:rPr lang="en-US" b="1" i="0" u="none" strike="noStrike" dirty="0">
                <a:solidFill>
                  <a:srgbClr val="73FEFF"/>
                </a:solidFill>
                <a:effectLst/>
                <a:latin typeface="Andale Mono" panose="020B0509000000000004" pitchFamily="49" charset="0"/>
              </a:rPr>
              <a:t>out-of-domain bona fide speech</a:t>
            </a:r>
            <a:r>
              <a:rPr lang="en-US" b="0" i="0" u="none" strike="noStrike" dirty="0">
                <a:solidFill>
                  <a:srgbClr val="73FEFF"/>
                </a:solidFill>
                <a:effectLst/>
                <a:latin typeface="Andale Mono" panose="020B0509000000000004" pitchFamily="49" charset="0"/>
              </a:rPr>
              <a:t>, leading to high false alarms</a:t>
            </a:r>
            <a:endParaRPr lang="en-US" b="1" dirty="0">
              <a:solidFill>
                <a:srgbClr val="73FEFF"/>
              </a:solidFill>
              <a:latin typeface="Andale Mono" panose="020B050900000000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297CF0-7B0C-A77F-3DFB-AC9D3A368691}"/>
              </a:ext>
            </a:extLst>
          </p:cNvPr>
          <p:cNvSpPr txBox="1"/>
          <p:nvPr/>
        </p:nvSpPr>
        <p:spPr>
          <a:xfrm>
            <a:off x="3166039" y="1188395"/>
            <a:ext cx="6345967" cy="660437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LibriSpeech / Common Voice</a:t>
            </a:r>
            <a:endParaRPr lang="en-US" sz="2800" b="1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9ABA2E7F-5DAA-A2C6-9F21-3BCB3EAA4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618" y="2339972"/>
            <a:ext cx="5006471" cy="32307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115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403E3D-34A4-61C6-D065-8B0193720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69D5B9C-4A2A-47E9-3559-26C5197D1467}"/>
              </a:ext>
            </a:extLst>
          </p:cNvPr>
          <p:cNvSpPr txBox="1"/>
          <p:nvPr/>
        </p:nvSpPr>
        <p:spPr>
          <a:xfrm>
            <a:off x="1360526" y="532094"/>
            <a:ext cx="10180683" cy="707886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4000" b="0" i="0" u="none" strike="noStrike" dirty="0">
                <a:solidFill>
                  <a:srgbClr val="00B0F0"/>
                </a:solidFill>
                <a:effectLst/>
                <a:latin typeface="Andale Mono" panose="020B0509000000000004" pitchFamily="49" charset="0"/>
              </a:rPr>
              <a:t>Why model failed to generalize?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8FBABB-3FF0-7E02-DA6D-B0576337C6A4}"/>
              </a:ext>
            </a:extLst>
          </p:cNvPr>
          <p:cNvSpPr txBox="1"/>
          <p:nvPr/>
        </p:nvSpPr>
        <p:spPr>
          <a:xfrm>
            <a:off x="1423630" y="1971873"/>
            <a:ext cx="10048867" cy="3729804"/>
          </a:xfrm>
          <a:prstGeom prst="rect">
            <a:avLst/>
          </a:prstGeom>
          <a:solidFill>
            <a:schemeClr val="tx1">
              <a:alpha val="52569"/>
            </a:schemeClr>
          </a:solidFill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2000" b="1" dirty="0">
                <a:solidFill>
                  <a:srgbClr val="00B0F0"/>
                </a:solidFill>
                <a:latin typeface="Andale Mono" panose="020B0509000000000004" pitchFamily="49" charset="0"/>
              </a:rPr>
              <a:t>Domain &amp; style mismatch</a:t>
            </a:r>
            <a:r>
              <a:rPr lang="en-US" sz="2000" b="1" dirty="0">
                <a:solidFill>
                  <a:schemeClr val="bg1"/>
                </a:solidFill>
                <a:latin typeface="Andale Mono" panose="020B0509000000000004" pitchFamily="49" charset="0"/>
              </a:rPr>
              <a:t>:</a:t>
            </a:r>
            <a: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  <a:t> controlled ASVspoof vs natural LibriSpeech/Common Voice</a:t>
            </a:r>
          </a:p>
          <a:p>
            <a:pPr marL="342900" indent="-342900">
              <a:lnSpc>
                <a:spcPct val="150000"/>
              </a:lnSpc>
              <a:buClr>
                <a:schemeClr val="accent6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2000" b="1" dirty="0">
                <a:solidFill>
                  <a:srgbClr val="00B0F0"/>
                </a:solidFill>
                <a:latin typeface="Andale Mono" panose="020B0509000000000004" pitchFamily="49" charset="0"/>
              </a:rPr>
              <a:t>Speaker &amp; channel variability</a:t>
            </a:r>
            <a:r>
              <a:rPr lang="en-US" sz="2000" b="1" dirty="0">
                <a:solidFill>
                  <a:schemeClr val="bg1"/>
                </a:solidFill>
                <a:latin typeface="Andale Mono" panose="020B0509000000000004" pitchFamily="49" charset="0"/>
              </a:rPr>
              <a:t>:</a:t>
            </a:r>
            <a: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  <a:t> more diverse speakers, mics, and environments in real speech</a:t>
            </a:r>
          </a:p>
          <a:p>
            <a:pPr marL="342900" indent="-342900">
              <a:lnSpc>
                <a:spcPct val="150000"/>
              </a:lnSpc>
              <a:buClr>
                <a:schemeClr val="accent6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2000" b="1" dirty="0">
                <a:solidFill>
                  <a:srgbClr val="00B0F0"/>
                </a:solidFill>
                <a:latin typeface="Andale Mono" panose="020B0509000000000004" pitchFamily="49" charset="0"/>
              </a:rPr>
              <a:t>Overfitting to spoof artifacts</a:t>
            </a:r>
            <a:r>
              <a:rPr lang="en-US" sz="2000" b="1" dirty="0">
                <a:solidFill>
                  <a:schemeClr val="bg1"/>
                </a:solidFill>
                <a:latin typeface="Andale Mono" panose="020B0509000000000004" pitchFamily="49" charset="0"/>
              </a:rPr>
              <a:t>:</a:t>
            </a:r>
            <a: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  <a:t> model learned “what spoof looks like” but not diverse bona fide speech</a:t>
            </a:r>
          </a:p>
          <a:p>
            <a:pPr marL="342900" indent="-342900">
              <a:lnSpc>
                <a:spcPct val="150000"/>
              </a:lnSpc>
              <a:buClr>
                <a:schemeClr val="accent6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2000" b="1" dirty="0">
                <a:solidFill>
                  <a:srgbClr val="00B0F0"/>
                </a:solidFill>
                <a:latin typeface="Andale Mono" panose="020B0509000000000004" pitchFamily="49" charset="0"/>
              </a:rPr>
              <a:t>Calibration shift</a:t>
            </a:r>
            <a:r>
              <a:rPr lang="en-US" sz="2000" b="1" dirty="0">
                <a:solidFill>
                  <a:schemeClr val="bg1"/>
                </a:solidFill>
                <a:latin typeface="Andale Mono" panose="020B0509000000000004" pitchFamily="49" charset="0"/>
              </a:rPr>
              <a:t>:</a:t>
            </a:r>
            <a:r>
              <a:rPr lang="en-US" sz="2000" dirty="0">
                <a:solidFill>
                  <a:schemeClr val="bg1"/>
                </a:solidFill>
                <a:latin typeface="Andale Mono" panose="020B0509000000000004" pitchFamily="49" charset="0"/>
              </a:rPr>
              <a:t> ASVspoof score thresholds do not transfer to real-world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9BC4B8-2E9C-E6BA-8341-629A8B2CA0A2}"/>
              </a:ext>
            </a:extLst>
          </p:cNvPr>
          <p:cNvSpPr txBox="1"/>
          <p:nvPr/>
        </p:nvSpPr>
        <p:spPr>
          <a:xfrm>
            <a:off x="5397079" y="7006981"/>
            <a:ext cx="5242088" cy="2190921"/>
          </a:xfrm>
          <a:prstGeom prst="rect">
            <a:avLst/>
          </a:prstGeom>
          <a:noFill/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000" b="1" i="0" u="none" strike="noStrike" dirty="0">
                <a:solidFill>
                  <a:srgbClr val="73FEFF"/>
                </a:solidFill>
                <a:effectLst/>
                <a:latin typeface="Andale Mono" panose="020B0509000000000004" pitchFamily="49" charset="0"/>
              </a:rPr>
              <a:t>Results</a:t>
            </a:r>
            <a:endParaRPr lang="en-US" sz="2000" b="0" i="0" u="none" strike="noStrike" dirty="0">
              <a:solidFill>
                <a:srgbClr val="73FEFF"/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Clr>
                <a:srgbClr val="73FEFF"/>
              </a:buClr>
              <a:buFont typeface="Wingdings" pitchFamily="2" charset="2"/>
              <a:buChar char="§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False positives: </a:t>
            </a: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298 / 500</a:t>
            </a:r>
            <a:endParaRPr lang="en-US" sz="20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Clr>
                <a:srgbClr val="73FEFF"/>
              </a:buClr>
              <a:buFont typeface="Wingdings" pitchFamily="2" charset="2"/>
              <a:buChar char="§"/>
            </a:pP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FPR: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 </a:t>
            </a: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59.6%</a:t>
            </a:r>
            <a:endParaRPr lang="en-US" sz="20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Clr>
                <a:srgbClr val="73FEFF"/>
              </a:buClr>
              <a:buFont typeface="Wingdings" pitchFamily="2" charset="2"/>
              <a:buChar char="§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Spoof probability distribution biased toward spoof</a:t>
            </a:r>
          </a:p>
        </p:txBody>
      </p:sp>
    </p:spTree>
    <p:extLst>
      <p:ext uri="{BB962C8B-B14F-4D97-AF65-F5344CB8AC3E}">
        <p14:creationId xmlns:p14="http://schemas.microsoft.com/office/powerpoint/2010/main" val="2082549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54541D-CAAF-B6D5-D5CD-F879CACDA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3029A9F-720D-FF9A-FA82-F6135857EC4B}"/>
              </a:ext>
            </a:extLst>
          </p:cNvPr>
          <p:cNvSpPr txBox="1"/>
          <p:nvPr/>
        </p:nvSpPr>
        <p:spPr>
          <a:xfrm>
            <a:off x="1669447" y="411596"/>
            <a:ext cx="4735474" cy="76944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44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Andale Mono" panose="020B0509000000000004" pitchFamily="49" charset="0"/>
              </a:rPr>
              <a:t>Future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697199-624E-20F0-C91B-5DDA207AC4AD}"/>
              </a:ext>
            </a:extLst>
          </p:cNvPr>
          <p:cNvSpPr txBox="1"/>
          <p:nvPr/>
        </p:nvSpPr>
        <p:spPr>
          <a:xfrm>
            <a:off x="1695478" y="1786519"/>
            <a:ext cx="10048867" cy="4457310"/>
          </a:xfrm>
          <a:prstGeom prst="rect">
            <a:avLst/>
          </a:prstGeom>
          <a:solidFill>
            <a:schemeClr val="tx1">
              <a:alpha val="39762"/>
            </a:schemeClr>
          </a:solidFill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tx2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Andale Mono" panose="020B0509000000000004" pitchFamily="49" charset="0"/>
              </a:rPr>
              <a:t>Obtain </a:t>
            </a:r>
            <a:r>
              <a:rPr lang="en-US" sz="2400" b="1" dirty="0">
                <a:solidFill>
                  <a:schemeClr val="bg1"/>
                </a:solidFill>
                <a:latin typeface="Andale Mono" panose="020B0509000000000004" pitchFamily="49" charset="0"/>
              </a:rPr>
              <a:t>ASVspoof Eval labels</a:t>
            </a:r>
            <a:r>
              <a:rPr lang="en-US" sz="2400" dirty="0">
                <a:solidFill>
                  <a:schemeClr val="bg1"/>
                </a:solidFill>
                <a:latin typeface="Andale Mono" panose="020B0509000000000004" pitchFamily="49" charset="0"/>
              </a:rPr>
              <a:t> to measure unseen-attack performance</a:t>
            </a:r>
          </a:p>
          <a:p>
            <a:pPr marL="342900" indent="-342900">
              <a:lnSpc>
                <a:spcPct val="150000"/>
              </a:lnSpc>
              <a:buClr>
                <a:schemeClr val="tx2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Andale Mono" panose="020B0509000000000004" pitchFamily="49" charset="0"/>
              </a:rPr>
              <a:t>Test on </a:t>
            </a:r>
            <a:r>
              <a:rPr lang="en-US" sz="2400" b="1" dirty="0">
                <a:solidFill>
                  <a:schemeClr val="bg1"/>
                </a:solidFill>
                <a:latin typeface="Andale Mono" panose="020B0509000000000004" pitchFamily="49" charset="0"/>
              </a:rPr>
              <a:t>additional real speech datasets</a:t>
            </a:r>
            <a:r>
              <a:rPr lang="en-US" sz="2400" dirty="0">
                <a:solidFill>
                  <a:schemeClr val="bg1"/>
                </a:solidFill>
                <a:latin typeface="Andale Mono" panose="020B0509000000000004" pitchFamily="49" charset="0"/>
              </a:rPr>
              <a:t> (e.g., Common Voice, </a:t>
            </a:r>
            <a:r>
              <a:rPr lang="en-US" sz="2400" dirty="0" err="1">
                <a:solidFill>
                  <a:schemeClr val="bg1"/>
                </a:solidFill>
                <a:latin typeface="Andale Mono" panose="020B0509000000000004" pitchFamily="49" charset="0"/>
              </a:rPr>
              <a:t>VoxCeleb</a:t>
            </a:r>
            <a:r>
              <a:rPr lang="en-US" sz="2400" dirty="0">
                <a:solidFill>
                  <a:schemeClr val="bg1"/>
                </a:solidFill>
                <a:latin typeface="Andale Mono" panose="020B0509000000000004" pitchFamily="49" charset="0"/>
              </a:rPr>
              <a:t>)</a:t>
            </a:r>
          </a:p>
          <a:p>
            <a:pPr marL="342900" indent="-342900">
              <a:lnSpc>
                <a:spcPct val="150000"/>
              </a:lnSpc>
              <a:buClr>
                <a:schemeClr val="tx2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Andale Mono" panose="020B0509000000000004" pitchFamily="49" charset="0"/>
              </a:rPr>
              <a:t>Increase </a:t>
            </a:r>
            <a:r>
              <a:rPr lang="en-US" sz="2400" b="1" dirty="0">
                <a:solidFill>
                  <a:schemeClr val="bg1"/>
                </a:solidFill>
                <a:latin typeface="Andale Mono" panose="020B0509000000000004" pitchFamily="49" charset="0"/>
              </a:rPr>
              <a:t>bona fide speech diversity</a:t>
            </a:r>
            <a:r>
              <a:rPr lang="en-US" sz="2400" dirty="0">
                <a:solidFill>
                  <a:schemeClr val="bg1"/>
                </a:solidFill>
                <a:latin typeface="Andale Mono" panose="020B0509000000000004" pitchFamily="49" charset="0"/>
              </a:rPr>
              <a:t> for better real-world generalization</a:t>
            </a:r>
          </a:p>
          <a:p>
            <a:pPr marL="342900" indent="-342900">
              <a:lnSpc>
                <a:spcPct val="150000"/>
              </a:lnSpc>
              <a:buClr>
                <a:schemeClr val="tx2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Andale Mono" panose="020B0509000000000004" pitchFamily="49" charset="0"/>
              </a:rPr>
              <a:t>Improve </a:t>
            </a:r>
            <a:r>
              <a:rPr lang="en-US" sz="2400" b="1" dirty="0">
                <a:solidFill>
                  <a:schemeClr val="bg1"/>
                </a:solidFill>
                <a:latin typeface="Andale Mono" panose="020B0509000000000004" pitchFamily="49" charset="0"/>
              </a:rPr>
              <a:t>threshold calibration</a:t>
            </a:r>
            <a:r>
              <a:rPr lang="en-US" sz="2400" dirty="0">
                <a:solidFill>
                  <a:schemeClr val="bg1"/>
                </a:solidFill>
                <a:latin typeface="Andale Mono" panose="020B0509000000000004" pitchFamily="49" charset="0"/>
              </a:rPr>
              <a:t> to reduce false positives in deployment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291437-429F-E820-531F-E94DEF95B1F9}"/>
              </a:ext>
            </a:extLst>
          </p:cNvPr>
          <p:cNvSpPr txBox="1"/>
          <p:nvPr/>
        </p:nvSpPr>
        <p:spPr>
          <a:xfrm>
            <a:off x="5397079" y="7006981"/>
            <a:ext cx="5242088" cy="2190921"/>
          </a:xfrm>
          <a:prstGeom prst="rect">
            <a:avLst/>
          </a:prstGeom>
          <a:noFill/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000" b="1" i="0" u="none" strike="noStrike" dirty="0">
                <a:solidFill>
                  <a:srgbClr val="73FEFF"/>
                </a:solidFill>
                <a:effectLst/>
                <a:latin typeface="Andale Mono" panose="020B0509000000000004" pitchFamily="49" charset="0"/>
              </a:rPr>
              <a:t>Results</a:t>
            </a:r>
            <a:endParaRPr lang="en-US" sz="2000" b="0" i="0" u="none" strike="noStrike" dirty="0">
              <a:solidFill>
                <a:srgbClr val="73FEFF"/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Clr>
                <a:srgbClr val="73FEFF"/>
              </a:buClr>
              <a:buFont typeface="Wingdings" pitchFamily="2" charset="2"/>
              <a:buChar char="§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False positives: </a:t>
            </a: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298 / 500</a:t>
            </a:r>
            <a:endParaRPr lang="en-US" sz="20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Clr>
                <a:srgbClr val="73FEFF"/>
              </a:buClr>
              <a:buFont typeface="Wingdings" pitchFamily="2" charset="2"/>
              <a:buChar char="§"/>
            </a:pP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FPR: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 </a:t>
            </a: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59.6%</a:t>
            </a:r>
            <a:endParaRPr lang="en-US" sz="20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Clr>
                <a:srgbClr val="73FEFF"/>
              </a:buClr>
              <a:buFont typeface="Wingdings" pitchFamily="2" charset="2"/>
              <a:buChar char="§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Spoof probability distribution biased toward spoof</a:t>
            </a:r>
          </a:p>
        </p:txBody>
      </p:sp>
    </p:spTree>
    <p:extLst>
      <p:ext uri="{BB962C8B-B14F-4D97-AF65-F5344CB8AC3E}">
        <p14:creationId xmlns:p14="http://schemas.microsoft.com/office/powerpoint/2010/main" val="2093845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9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6BA66-FA42-4EBE-C167-D582D7C4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F3632BC-A4D5-8CDD-34E7-D9087489CC89}"/>
              </a:ext>
            </a:extLst>
          </p:cNvPr>
          <p:cNvSpPr txBox="1"/>
          <p:nvPr/>
        </p:nvSpPr>
        <p:spPr>
          <a:xfrm>
            <a:off x="4049539" y="1185548"/>
            <a:ext cx="3821715" cy="76944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4400" b="0" i="0" u="none" strike="noStrike" dirty="0">
                <a:solidFill>
                  <a:srgbClr val="FF7E79"/>
                </a:solidFill>
                <a:effectLst/>
                <a:latin typeface="Andale Mono" panose="020B0509000000000004" pitchFamily="49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EE22CE-DC7A-BB48-A674-389695A9B4F7}"/>
              </a:ext>
            </a:extLst>
          </p:cNvPr>
          <p:cNvSpPr txBox="1"/>
          <p:nvPr/>
        </p:nvSpPr>
        <p:spPr>
          <a:xfrm>
            <a:off x="1731232" y="2938535"/>
            <a:ext cx="10048867" cy="2241319"/>
          </a:xfrm>
          <a:prstGeom prst="rect">
            <a:avLst/>
          </a:prstGeom>
          <a:solidFill>
            <a:schemeClr val="tx1">
              <a:alpha val="66000"/>
            </a:schemeClr>
          </a:solidFill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tx2">
                  <a:lumMod val="50000"/>
                  <a:lumOff val="50000"/>
                </a:schemeClr>
              </a:buClr>
            </a:pPr>
            <a:r>
              <a:rPr lang="en-US" sz="24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The model solved the ASVspoof benchmark task but failed to generalize to out-of-domain real speech, highlighting a gap between benchmark success and real-world usability.</a:t>
            </a:r>
            <a:endParaRPr lang="en-US" sz="2400" dirty="0">
              <a:solidFill>
                <a:schemeClr val="bg1"/>
              </a:solidFill>
              <a:latin typeface="Andale Mono" panose="020B050900000000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2BDA90-9099-2041-2B54-58F377EED7C6}"/>
              </a:ext>
            </a:extLst>
          </p:cNvPr>
          <p:cNvSpPr txBox="1"/>
          <p:nvPr/>
        </p:nvSpPr>
        <p:spPr>
          <a:xfrm>
            <a:off x="5397079" y="7006981"/>
            <a:ext cx="5242088" cy="2190921"/>
          </a:xfrm>
          <a:prstGeom prst="rect">
            <a:avLst/>
          </a:prstGeom>
          <a:noFill/>
          <a:ln>
            <a:noFill/>
            <a:prstDash val="solid"/>
          </a:ln>
          <a:effectLst>
            <a:glow rad="101600">
              <a:schemeClr val="bg1">
                <a:lumMod val="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000" b="1" i="0" u="none" strike="noStrike" dirty="0">
                <a:solidFill>
                  <a:srgbClr val="73FEFF"/>
                </a:solidFill>
                <a:effectLst/>
                <a:latin typeface="Andale Mono" panose="020B0509000000000004" pitchFamily="49" charset="0"/>
              </a:rPr>
              <a:t>Results</a:t>
            </a:r>
            <a:endParaRPr lang="en-US" sz="2000" b="0" i="0" u="none" strike="noStrike" dirty="0">
              <a:solidFill>
                <a:srgbClr val="73FEFF"/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Clr>
                <a:srgbClr val="73FEFF"/>
              </a:buClr>
              <a:buFont typeface="Wingdings" pitchFamily="2" charset="2"/>
              <a:buChar char="§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False positives: </a:t>
            </a: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298 / 500</a:t>
            </a:r>
            <a:endParaRPr lang="en-US" sz="20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Clr>
                <a:srgbClr val="73FEFF"/>
              </a:buClr>
              <a:buFont typeface="Wingdings" pitchFamily="2" charset="2"/>
              <a:buChar char="§"/>
            </a:pP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FPR: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 </a:t>
            </a: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59.6%</a:t>
            </a:r>
            <a:endParaRPr lang="en-US" sz="2000" b="0" i="0" u="none" strike="noStrike" dirty="0">
              <a:solidFill>
                <a:schemeClr val="bg1"/>
              </a:solidFill>
              <a:effectLst/>
              <a:latin typeface="Andale Mono" panose="020B0509000000000004" pitchFamily="49" charset="0"/>
            </a:endParaRPr>
          </a:p>
          <a:p>
            <a:pPr marL="342900" indent="-342900" algn="l">
              <a:lnSpc>
                <a:spcPct val="150000"/>
              </a:lnSpc>
              <a:buClr>
                <a:srgbClr val="73FEFF"/>
              </a:buClr>
              <a:buFont typeface="Wingdings" pitchFamily="2" charset="2"/>
              <a:buChar char="§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Andale Mono" panose="020B0509000000000004" pitchFamily="49" charset="0"/>
              </a:rPr>
              <a:t>Spoof probability distribution biased toward spoof</a:t>
            </a:r>
          </a:p>
        </p:txBody>
      </p:sp>
    </p:spTree>
    <p:extLst>
      <p:ext uri="{BB962C8B-B14F-4D97-AF65-F5344CB8AC3E}">
        <p14:creationId xmlns:p14="http://schemas.microsoft.com/office/powerpoint/2010/main" val="1385797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1525</TotalTime>
  <Words>1134</Words>
  <Application>Microsoft Macintosh PowerPoint</Application>
  <PresentationFormat>Widescreen</PresentationFormat>
  <Paragraphs>201</Paragraphs>
  <Slides>22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Andale Mono</vt:lpstr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Sabina Haque</dc:creator>
  <cp:lastModifiedBy>Sabina Haque</cp:lastModifiedBy>
  <cp:revision>7</cp:revision>
  <dcterms:created xsi:type="dcterms:W3CDTF">2026-01-20T15:46:00Z</dcterms:created>
  <dcterms:modified xsi:type="dcterms:W3CDTF">2026-01-21T17:32:31Z</dcterms:modified>
</cp:coreProperties>
</file>